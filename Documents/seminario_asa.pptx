
<file path=[Content_Types].xml><?xml version="1.0" encoding="utf-8"?>
<Types xmlns="http://schemas.openxmlformats.org/package/2006/content-types">
  <Default Extension="emf" ContentType="image/x-emf"/>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6" r:id="rId2"/>
    <p:sldId id="259" r:id="rId3"/>
    <p:sldId id="271" r:id="rId4"/>
    <p:sldId id="290" r:id="rId5"/>
    <p:sldId id="291" r:id="rId6"/>
    <p:sldId id="292" r:id="rId7"/>
    <p:sldId id="288" r:id="rId8"/>
    <p:sldId id="294" r:id="rId9"/>
    <p:sldId id="297" r:id="rId10"/>
    <p:sldId id="295" r:id="rId11"/>
    <p:sldId id="296" r:id="rId12"/>
    <p:sldId id="299" r:id="rId13"/>
    <p:sldId id="300" r:id="rId14"/>
    <p:sldId id="293" r:id="rId15"/>
  </p:sldIdLst>
  <p:sldSz cx="9144000" cy="6858000" type="screen4x3"/>
  <p:notesSz cx="9144000" cy="6858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édio 2 - Ênfase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1734" y="7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tanael Gomes" userId="522ef62b4e26dce7" providerId="LiveId" clId="{B75DDFF7-65CC-450E-8D10-D51084C4956C}"/>
    <pc:docChg chg="modSld">
      <pc:chgData name="Natanael Gomes" userId="522ef62b4e26dce7" providerId="LiveId" clId="{B75DDFF7-65CC-450E-8D10-D51084C4956C}" dt="2025-10-22T14:15:42.402" v="9" actId="255"/>
      <pc:docMkLst>
        <pc:docMk/>
      </pc:docMkLst>
      <pc:sldChg chg="modSp mod">
        <pc:chgData name="Natanael Gomes" userId="522ef62b4e26dce7" providerId="LiveId" clId="{B75DDFF7-65CC-450E-8D10-D51084C4956C}" dt="2025-10-22T14:15:42.402" v="9" actId="255"/>
        <pc:sldMkLst>
          <pc:docMk/>
          <pc:sldMk cId="0" sldId="256"/>
        </pc:sldMkLst>
        <pc:spChg chg="mod">
          <ac:chgData name="Natanael Gomes" userId="522ef62b4e26dce7" providerId="LiveId" clId="{B75DDFF7-65CC-450E-8D10-D51084C4956C}" dt="2025-10-22T14:15:42.402" v="9" actId="255"/>
          <ac:spMkLst>
            <pc:docMk/>
            <pc:sldMk cId="0" sldId="256"/>
            <ac:spMk id="7"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6704AB7-BE91-42AB-A541-16961459972D}" type="datetimeFigureOut">
              <a:rPr lang="pt-BR" smtClean="0"/>
              <a:t>22/10/2025</a:t>
            </a:fld>
            <a:endParaRPr lang="pt-BR"/>
          </a:p>
        </p:txBody>
      </p:sp>
      <p:sp>
        <p:nvSpPr>
          <p:cNvPr id="4" name="Espaço Reservado para Imagem de Slide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F9F33AB8-0A14-4F3D-826E-A670BB4B17FB}" type="slidenum">
              <a:rPr lang="pt-BR" smtClean="0"/>
              <a:t>‹nº›</a:t>
            </a:fld>
            <a:endParaRPr lang="pt-BR"/>
          </a:p>
        </p:txBody>
      </p:sp>
    </p:spTree>
    <p:extLst>
      <p:ext uri="{BB962C8B-B14F-4D97-AF65-F5344CB8AC3E}">
        <p14:creationId xmlns:p14="http://schemas.microsoft.com/office/powerpoint/2010/main" val="2595166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2</a:t>
            </a:fld>
            <a:endParaRPr lang="pt-BR"/>
          </a:p>
        </p:txBody>
      </p:sp>
    </p:spTree>
    <p:extLst>
      <p:ext uri="{BB962C8B-B14F-4D97-AF65-F5344CB8AC3E}">
        <p14:creationId xmlns:p14="http://schemas.microsoft.com/office/powerpoint/2010/main" val="28064875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3</a:t>
            </a:fld>
            <a:endParaRPr lang="pt-BR"/>
          </a:p>
        </p:txBody>
      </p:sp>
    </p:spTree>
    <p:extLst>
      <p:ext uri="{BB962C8B-B14F-4D97-AF65-F5344CB8AC3E}">
        <p14:creationId xmlns:p14="http://schemas.microsoft.com/office/powerpoint/2010/main" val="11727595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4</a:t>
            </a:fld>
            <a:endParaRPr lang="pt-BR"/>
          </a:p>
        </p:txBody>
      </p:sp>
    </p:spTree>
    <p:extLst>
      <p:ext uri="{BB962C8B-B14F-4D97-AF65-F5344CB8AC3E}">
        <p14:creationId xmlns:p14="http://schemas.microsoft.com/office/powerpoint/2010/main" val="3623453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5</a:t>
            </a:fld>
            <a:endParaRPr lang="pt-BR"/>
          </a:p>
        </p:txBody>
      </p:sp>
    </p:spTree>
    <p:extLst>
      <p:ext uri="{BB962C8B-B14F-4D97-AF65-F5344CB8AC3E}">
        <p14:creationId xmlns:p14="http://schemas.microsoft.com/office/powerpoint/2010/main" val="3178118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6</a:t>
            </a:fld>
            <a:endParaRPr lang="pt-BR"/>
          </a:p>
        </p:txBody>
      </p:sp>
    </p:spTree>
    <p:extLst>
      <p:ext uri="{BB962C8B-B14F-4D97-AF65-F5344CB8AC3E}">
        <p14:creationId xmlns:p14="http://schemas.microsoft.com/office/powerpoint/2010/main" val="25345618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7</a:t>
            </a:fld>
            <a:endParaRPr lang="pt-BR"/>
          </a:p>
        </p:txBody>
      </p:sp>
    </p:spTree>
    <p:extLst>
      <p:ext uri="{BB962C8B-B14F-4D97-AF65-F5344CB8AC3E}">
        <p14:creationId xmlns:p14="http://schemas.microsoft.com/office/powerpoint/2010/main" val="1108969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8</a:t>
            </a:fld>
            <a:endParaRPr lang="pt-BR"/>
          </a:p>
        </p:txBody>
      </p:sp>
    </p:spTree>
    <p:extLst>
      <p:ext uri="{BB962C8B-B14F-4D97-AF65-F5344CB8AC3E}">
        <p14:creationId xmlns:p14="http://schemas.microsoft.com/office/powerpoint/2010/main" val="32034619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9</a:t>
            </a:fld>
            <a:endParaRPr lang="pt-BR"/>
          </a:p>
        </p:txBody>
      </p:sp>
    </p:spTree>
    <p:extLst>
      <p:ext uri="{BB962C8B-B14F-4D97-AF65-F5344CB8AC3E}">
        <p14:creationId xmlns:p14="http://schemas.microsoft.com/office/powerpoint/2010/main" val="42522850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10</a:t>
            </a:fld>
            <a:endParaRPr lang="pt-BR"/>
          </a:p>
        </p:txBody>
      </p:sp>
    </p:spTree>
    <p:extLst>
      <p:ext uri="{BB962C8B-B14F-4D97-AF65-F5344CB8AC3E}">
        <p14:creationId xmlns:p14="http://schemas.microsoft.com/office/powerpoint/2010/main" val="1754362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11</a:t>
            </a:fld>
            <a:endParaRPr lang="pt-BR"/>
          </a:p>
        </p:txBody>
      </p:sp>
    </p:spTree>
    <p:extLst>
      <p:ext uri="{BB962C8B-B14F-4D97-AF65-F5344CB8AC3E}">
        <p14:creationId xmlns:p14="http://schemas.microsoft.com/office/powerpoint/2010/main" val="1358788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12</a:t>
            </a:fld>
            <a:endParaRPr lang="pt-BR"/>
          </a:p>
        </p:txBody>
      </p:sp>
    </p:spTree>
    <p:extLst>
      <p:ext uri="{BB962C8B-B14F-4D97-AF65-F5344CB8AC3E}">
        <p14:creationId xmlns:p14="http://schemas.microsoft.com/office/powerpoint/2010/main" val="33413938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13</a:t>
            </a:fld>
            <a:endParaRPr lang="pt-BR"/>
          </a:p>
        </p:txBody>
      </p:sp>
    </p:spTree>
    <p:extLst>
      <p:ext uri="{BB962C8B-B14F-4D97-AF65-F5344CB8AC3E}">
        <p14:creationId xmlns:p14="http://schemas.microsoft.com/office/powerpoint/2010/main" val="3958331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9F33AB8-0A14-4F3D-826E-A670BB4B17FB}" type="slidenum">
              <a:rPr lang="pt-BR" smtClean="0"/>
              <a:t>14</a:t>
            </a:fld>
            <a:endParaRPr lang="pt-BR"/>
          </a:p>
        </p:txBody>
      </p:sp>
    </p:spTree>
    <p:extLst>
      <p:ext uri="{BB962C8B-B14F-4D97-AF65-F5344CB8AC3E}">
        <p14:creationId xmlns:p14="http://schemas.microsoft.com/office/powerpoint/2010/main" val="28535724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7" name="Holder 7"/>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5055783" y="3539057"/>
            <a:ext cx="4088216" cy="3318939"/>
          </a:xfrm>
          <a:prstGeom prst="rect">
            <a:avLst/>
          </a:prstGeom>
        </p:spPr>
      </p:pic>
      <p:sp>
        <p:nvSpPr>
          <p:cNvPr id="2" name="Holder 2"/>
          <p:cNvSpPr>
            <a:spLocks noGrp="1"/>
          </p:cNvSpPr>
          <p:nvPr>
            <p:ph type="title"/>
          </p:nvPr>
        </p:nvSpPr>
        <p:spPr/>
        <p:txBody>
          <a:bodyPr lIns="0" tIns="0" rIns="0" bIns="0"/>
          <a:lstStyle>
            <a:lvl1pPr>
              <a:defRPr sz="4400" b="0" i="0">
                <a:solidFill>
                  <a:schemeClr val="tx1"/>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5" name="Holder 5"/>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4" name="Holder 4"/>
          <p:cNvSpPr>
            <a:spLocks noGrp="1"/>
          </p:cNvSpPr>
          <p:nvPr>
            <p:ph type="sldNum" sz="quarter" idx="7"/>
          </p:nvPr>
        </p:nvSpPr>
        <p:spPr/>
        <p:txBody>
          <a:bodyPr lIns="0" tIns="0" rIns="0" bIns="0"/>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5055783" y="3539057"/>
            <a:ext cx="4088216" cy="3318939"/>
          </a:xfrm>
          <a:prstGeom prst="rect">
            <a:avLst/>
          </a:prstGeom>
        </p:spPr>
      </p:pic>
      <p:pic>
        <p:nvPicPr>
          <p:cNvPr id="17" name="bg object 17"/>
          <p:cNvPicPr/>
          <p:nvPr/>
        </p:nvPicPr>
        <p:blipFill>
          <a:blip r:embed="rId8" cstate="print"/>
          <a:stretch>
            <a:fillRect/>
          </a:stretch>
        </p:blipFill>
        <p:spPr>
          <a:xfrm>
            <a:off x="0" y="0"/>
            <a:ext cx="9144000" cy="1773936"/>
          </a:xfrm>
          <a:prstGeom prst="rect">
            <a:avLst/>
          </a:prstGeom>
        </p:spPr>
      </p:pic>
      <p:pic>
        <p:nvPicPr>
          <p:cNvPr id="18" name="bg object 18"/>
          <p:cNvPicPr/>
          <p:nvPr/>
        </p:nvPicPr>
        <p:blipFill>
          <a:blip r:embed="rId9" cstate="print"/>
          <a:stretch>
            <a:fillRect/>
          </a:stretch>
        </p:blipFill>
        <p:spPr>
          <a:xfrm>
            <a:off x="27432" y="73152"/>
            <a:ext cx="1170432" cy="1554480"/>
          </a:xfrm>
          <a:prstGeom prst="rect">
            <a:avLst/>
          </a:prstGeom>
        </p:spPr>
      </p:pic>
      <p:sp>
        <p:nvSpPr>
          <p:cNvPr id="2" name="Holder 2"/>
          <p:cNvSpPr>
            <a:spLocks noGrp="1"/>
          </p:cNvSpPr>
          <p:nvPr>
            <p:ph type="title"/>
          </p:nvPr>
        </p:nvSpPr>
        <p:spPr>
          <a:xfrm>
            <a:off x="75565" y="65277"/>
            <a:ext cx="8992869" cy="695325"/>
          </a:xfrm>
          <a:prstGeom prst="rect">
            <a:avLst/>
          </a:prstGeom>
        </p:spPr>
        <p:txBody>
          <a:bodyPr wrap="square" lIns="0" tIns="0" rIns="0" bIns="0">
            <a:spAutoFit/>
          </a:bodyPr>
          <a:lstStyle>
            <a:lvl1pPr>
              <a:defRPr sz="4400" b="0" i="0">
                <a:solidFill>
                  <a:schemeClr val="tx1"/>
                </a:solidFill>
                <a:latin typeface="Tahoma"/>
                <a:cs typeface="Tahoma"/>
              </a:defRPr>
            </a:lvl1pPr>
          </a:lstStyle>
          <a:p>
            <a:endParaRPr/>
          </a:p>
        </p:txBody>
      </p:sp>
      <p:sp>
        <p:nvSpPr>
          <p:cNvPr id="3" name="Holder 3"/>
          <p:cNvSpPr>
            <a:spLocks noGrp="1"/>
          </p:cNvSpPr>
          <p:nvPr>
            <p:ph type="body" idx="1"/>
          </p:nvPr>
        </p:nvSpPr>
        <p:spPr>
          <a:xfrm>
            <a:off x="305815" y="3031617"/>
            <a:ext cx="8508365" cy="3378835"/>
          </a:xfrm>
          <a:prstGeom prst="rect">
            <a:avLst/>
          </a:prstGeom>
        </p:spPr>
        <p:txBody>
          <a:bodyPr wrap="square" lIns="0" tIns="0" rIns="0" bIns="0">
            <a:spAutoFit/>
          </a:bodyPr>
          <a:lstStyle>
            <a:lvl1pPr>
              <a:defRPr sz="2000" b="0" i="0">
                <a:solidFill>
                  <a:schemeClr val="tx1"/>
                </a:solidFill>
                <a:latin typeface="Tahoma"/>
                <a:cs typeface="Tahoma"/>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10/22/2025</a:t>
            </a:fld>
            <a:endParaRPr lang="en-US"/>
          </a:p>
        </p:txBody>
      </p:sp>
      <p:sp>
        <p:nvSpPr>
          <p:cNvPr id="6" name="Holder 6"/>
          <p:cNvSpPr>
            <a:spLocks noGrp="1"/>
          </p:cNvSpPr>
          <p:nvPr>
            <p:ph type="sldNum" sz="quarter" idx="7"/>
          </p:nvPr>
        </p:nvSpPr>
        <p:spPr>
          <a:xfrm>
            <a:off x="8625205" y="6445689"/>
            <a:ext cx="272415" cy="223520"/>
          </a:xfrm>
          <a:prstGeom prst="rect">
            <a:avLst/>
          </a:prstGeom>
        </p:spPr>
        <p:txBody>
          <a:bodyPr wrap="square" lIns="0" tIns="0" rIns="0" bIns="0">
            <a:spAutoFit/>
          </a:bodyPr>
          <a:lstStyle>
            <a:lvl1pPr>
              <a:defRPr sz="1400" b="0" i="0">
                <a:solidFill>
                  <a:schemeClr val="tx1"/>
                </a:solidFill>
                <a:latin typeface="Arial MT"/>
                <a:cs typeface="Arial MT"/>
              </a:defRPr>
            </a:lvl1pPr>
          </a:lstStyle>
          <a:p>
            <a:pPr marL="135890">
              <a:lnSpc>
                <a:spcPts val="1639"/>
              </a:lnSpc>
            </a:pPr>
            <a:fld id="{81D60167-4931-47E6-BA6A-407CBD079E47}" type="slidenum">
              <a:rPr spc="-5" dirty="0"/>
              <a:t>‹nº›</a:t>
            </a:fld>
            <a:endParaRPr spc="-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0" y="549751"/>
            <a:ext cx="9144000" cy="2473960"/>
            <a:chOff x="0" y="757451"/>
            <a:chExt cx="9144000" cy="2473960"/>
          </a:xfrm>
        </p:grpSpPr>
        <p:pic>
          <p:nvPicPr>
            <p:cNvPr id="3" name="object 3"/>
            <p:cNvPicPr/>
            <p:nvPr/>
          </p:nvPicPr>
          <p:blipFill>
            <a:blip r:embed="rId2" cstate="print"/>
            <a:stretch>
              <a:fillRect/>
            </a:stretch>
          </p:blipFill>
          <p:spPr>
            <a:xfrm>
              <a:off x="434576" y="757451"/>
              <a:ext cx="5866788" cy="2391606"/>
            </a:xfrm>
            <a:prstGeom prst="rect">
              <a:avLst/>
            </a:prstGeom>
          </p:spPr>
        </p:pic>
        <p:pic>
          <p:nvPicPr>
            <p:cNvPr id="4" name="object 4"/>
            <p:cNvPicPr/>
            <p:nvPr/>
          </p:nvPicPr>
          <p:blipFill>
            <a:blip r:embed="rId3" cstate="print"/>
            <a:stretch>
              <a:fillRect/>
            </a:stretch>
          </p:blipFill>
          <p:spPr>
            <a:xfrm>
              <a:off x="0" y="3148584"/>
              <a:ext cx="9143999" cy="82296"/>
            </a:xfrm>
            <a:prstGeom prst="rect">
              <a:avLst/>
            </a:prstGeom>
          </p:spPr>
        </p:pic>
      </p:grpSp>
      <p:sp>
        <p:nvSpPr>
          <p:cNvPr id="5" name="object 5"/>
          <p:cNvSpPr/>
          <p:nvPr/>
        </p:nvSpPr>
        <p:spPr>
          <a:xfrm>
            <a:off x="0" y="0"/>
            <a:ext cx="9144000" cy="259079"/>
          </a:xfrm>
          <a:custGeom>
            <a:avLst/>
            <a:gdLst/>
            <a:ahLst/>
            <a:cxnLst/>
            <a:rect l="l" t="t" r="r" b="b"/>
            <a:pathLst>
              <a:path w="9144000" h="259079">
                <a:moveTo>
                  <a:pt x="9144000" y="0"/>
                </a:moveTo>
                <a:lnTo>
                  <a:pt x="0" y="0"/>
                </a:lnTo>
                <a:lnTo>
                  <a:pt x="0" y="259079"/>
                </a:lnTo>
                <a:lnTo>
                  <a:pt x="9144000" y="259079"/>
                </a:lnTo>
                <a:lnTo>
                  <a:pt x="9144000" y="0"/>
                </a:lnTo>
                <a:close/>
              </a:path>
            </a:pathLst>
          </a:custGeom>
          <a:solidFill>
            <a:srgbClr val="333333"/>
          </a:solidFill>
        </p:spPr>
        <p:txBody>
          <a:bodyPr wrap="square" lIns="0" tIns="0" rIns="0" bIns="0" rtlCol="0"/>
          <a:lstStyle/>
          <a:p>
            <a:endParaRPr/>
          </a:p>
        </p:txBody>
      </p:sp>
      <p:sp>
        <p:nvSpPr>
          <p:cNvPr id="6" name="object 6"/>
          <p:cNvSpPr txBox="1">
            <a:spLocks noGrp="1"/>
          </p:cNvSpPr>
          <p:nvPr>
            <p:ph type="title"/>
          </p:nvPr>
        </p:nvSpPr>
        <p:spPr>
          <a:xfrm>
            <a:off x="434576" y="3314383"/>
            <a:ext cx="8404624" cy="873957"/>
          </a:xfrm>
          <a:prstGeom prst="rect">
            <a:avLst/>
          </a:prstGeom>
        </p:spPr>
        <p:txBody>
          <a:bodyPr vert="horz" wrap="square" lIns="0" tIns="12065" rIns="0" bIns="0" rtlCol="0">
            <a:spAutoFit/>
          </a:bodyPr>
          <a:lstStyle/>
          <a:p>
            <a:pPr marL="12700" algn="ctr">
              <a:lnSpc>
                <a:spcPct val="100000"/>
              </a:lnSpc>
              <a:spcBef>
                <a:spcPts val="95"/>
              </a:spcBef>
            </a:pPr>
            <a:r>
              <a:rPr lang="pt-BR" sz="2800" b="1" spc="-5" dirty="0">
                <a:latin typeface="Arial MT"/>
                <a:cs typeface="Arial MT"/>
              </a:rPr>
              <a:t>ADMINISTRAÇÃO </a:t>
            </a:r>
            <a:br>
              <a:rPr lang="pt-BR" sz="2800" b="1" spc="-5" dirty="0">
                <a:latin typeface="Arial MT"/>
                <a:cs typeface="Arial MT"/>
              </a:rPr>
            </a:br>
            <a:r>
              <a:rPr lang="pt-BR" sz="2800" b="1" spc="-5" dirty="0">
                <a:latin typeface="Arial MT"/>
                <a:cs typeface="Arial MT"/>
              </a:rPr>
              <a:t>DE SISTEMAS ABERTOS </a:t>
            </a:r>
            <a:endParaRPr sz="2800" b="1" spc="-5" dirty="0">
              <a:latin typeface="Arial MT"/>
              <a:cs typeface="Arial MT"/>
            </a:endParaRPr>
          </a:p>
        </p:txBody>
      </p:sp>
      <p:sp>
        <p:nvSpPr>
          <p:cNvPr id="7" name="object 6"/>
          <p:cNvSpPr txBox="1">
            <a:spLocks/>
          </p:cNvSpPr>
          <p:nvPr/>
        </p:nvSpPr>
        <p:spPr>
          <a:xfrm>
            <a:off x="609600" y="4876800"/>
            <a:ext cx="8153400" cy="1976823"/>
          </a:xfrm>
          <a:prstGeom prst="rect">
            <a:avLst/>
          </a:prstGeom>
        </p:spPr>
        <p:txBody>
          <a:bodyPr vert="horz" wrap="square" lIns="0" tIns="12065" rIns="0" bIns="0" rtlCol="0">
            <a:spAutoFit/>
          </a:bodyPr>
          <a:lstStyle>
            <a:lvl1pPr>
              <a:defRPr sz="4400" b="0" i="0">
                <a:solidFill>
                  <a:schemeClr val="tx1"/>
                </a:solidFill>
                <a:latin typeface="Tahoma"/>
                <a:ea typeface="+mj-ea"/>
                <a:cs typeface="Tahoma"/>
              </a:defRPr>
            </a:lvl1pPr>
          </a:lstStyle>
          <a:p>
            <a:pPr marL="12700" algn="ctr">
              <a:spcBef>
                <a:spcPts val="95"/>
              </a:spcBef>
            </a:pPr>
            <a:endParaRPr lang="pt-BR" sz="2000" b="1" kern="0" spc="-5" dirty="0">
              <a:latin typeface="Arial MT"/>
              <a:cs typeface="Arial MT"/>
            </a:endParaRPr>
          </a:p>
          <a:p>
            <a:pPr marL="12700" algn="ctr">
              <a:spcBef>
                <a:spcPts val="95"/>
              </a:spcBef>
            </a:pPr>
            <a:r>
              <a:rPr lang="pt-BR" sz="2800" b="1" kern="0" spc="-5" dirty="0">
                <a:latin typeface="Arial MT"/>
                <a:cs typeface="Arial MT"/>
              </a:rPr>
              <a:t>Natanael Gomes de Melo Júnior – </a:t>
            </a:r>
            <a:r>
              <a:rPr lang="pt-BR" sz="2000" b="1" kern="0" spc="-5" dirty="0">
                <a:latin typeface="Arial MT"/>
                <a:cs typeface="Arial MT"/>
              </a:rPr>
              <a:t>20231014050011</a:t>
            </a:r>
          </a:p>
          <a:p>
            <a:pPr rtl="0">
              <a:spcBef>
                <a:spcPts val="0"/>
              </a:spcBef>
              <a:spcAft>
                <a:spcPts val="0"/>
              </a:spcAft>
            </a:pPr>
            <a:r>
              <a:rPr lang="pt-BR" sz="2800" b="1" dirty="0">
                <a:solidFill>
                  <a:srgbClr val="000000"/>
                </a:solidFill>
                <a:latin typeface="Arial" panose="020B0604020202020204" pitchFamily="34" charset="0"/>
              </a:rPr>
              <a:t>   </a:t>
            </a:r>
            <a:r>
              <a:rPr lang="pt-BR" sz="2800" b="1" i="0" u="none" strike="noStrike" dirty="0">
                <a:solidFill>
                  <a:srgbClr val="000000"/>
                </a:solidFill>
                <a:effectLst/>
                <a:latin typeface="Arial" panose="020B0604020202020204" pitchFamily="34" charset="0"/>
              </a:rPr>
              <a:t>Pedro </a:t>
            </a:r>
            <a:r>
              <a:rPr lang="pt-BR" sz="2800" b="1" i="0" u="none" strike="noStrike" dirty="0" err="1">
                <a:solidFill>
                  <a:srgbClr val="000000"/>
                </a:solidFill>
                <a:effectLst/>
                <a:latin typeface="Arial" panose="020B0604020202020204" pitchFamily="34" charset="0"/>
              </a:rPr>
              <a:t>Luccas</a:t>
            </a:r>
            <a:r>
              <a:rPr lang="pt-BR" sz="2800" b="1" i="0" u="none" strike="noStrike" dirty="0">
                <a:solidFill>
                  <a:srgbClr val="000000"/>
                </a:solidFill>
                <a:effectLst/>
                <a:latin typeface="Arial" panose="020B0604020202020204" pitchFamily="34" charset="0"/>
              </a:rPr>
              <a:t> Holanda Ribeiro </a:t>
            </a:r>
            <a:r>
              <a:rPr lang="pt-BR" sz="2000" b="1" i="0" u="none" strike="noStrike" dirty="0">
                <a:solidFill>
                  <a:srgbClr val="000000"/>
                </a:solidFill>
                <a:effectLst/>
                <a:latin typeface="Arial" panose="020B0604020202020204" pitchFamily="34" charset="0"/>
              </a:rPr>
              <a:t>– 20242014050005</a:t>
            </a:r>
            <a:endParaRPr lang="pt-BR" sz="2000" b="0" dirty="0">
              <a:effectLst/>
            </a:endParaRPr>
          </a:p>
          <a:p>
            <a:br>
              <a:rPr lang="pt-BR" sz="1000" dirty="0"/>
            </a:br>
            <a:endParaRPr lang="pt-BR" sz="2000" b="1" kern="0" spc="-5" dirty="0">
              <a:latin typeface="Arial MT"/>
              <a:cs typeface="Arial MT"/>
            </a:endParaRPr>
          </a:p>
          <a:p>
            <a:pPr marL="12700" algn="ctr">
              <a:spcBef>
                <a:spcPts val="95"/>
              </a:spcBef>
            </a:pPr>
            <a:endParaRPr lang="pt-BR" sz="2000" b="1" kern="0" spc="-5" dirty="0">
              <a:latin typeface="Arial MT"/>
              <a:cs typeface="Arial MT"/>
            </a:endParaRPr>
          </a:p>
        </p:txBody>
      </p:sp>
    </p:spTree>
  </p:cSld>
  <p:clrMapOvr>
    <a:masterClrMapping/>
  </p:clrMapOvr>
  <mc:AlternateContent xmlns:mc="http://schemas.openxmlformats.org/markup-compatibility/2006" xmlns:p14="http://schemas.microsoft.com/office/powerpoint/2010/main">
    <mc:Choice Requires="p14">
      <p:transition spd="slow" p14:dur="2000" advTm="6327"/>
    </mc:Choice>
    <mc:Fallback xmlns="">
      <p:transition spd="slow" advTm="632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7400" y="310239"/>
            <a:ext cx="5105400" cy="1354217"/>
          </a:xfrm>
        </p:spPr>
        <p:txBody>
          <a:bodyPr/>
          <a:lstStyle/>
          <a:p>
            <a:pPr algn="ctr"/>
            <a:r>
              <a:rPr lang="pt-PT" sz="3200" b="1" dirty="0"/>
              <a:t>TEMA  </a:t>
            </a:r>
            <a:r>
              <a:rPr lang="pt-PT" sz="2400" b="1" dirty="0"/>
              <a:t>             </a:t>
            </a:r>
            <a:br>
              <a:rPr lang="pt-PT" sz="2400" b="1" dirty="0"/>
            </a:br>
            <a:r>
              <a:rPr lang="pt-PT" sz="3200" b="1" dirty="0"/>
              <a:t>MICROSSERVIÇOS</a:t>
            </a:r>
            <a:br>
              <a:rPr lang="pt-BR" sz="2400" b="1" dirty="0"/>
            </a:br>
            <a:endParaRPr lang="pt-BR" sz="2400" b="1" dirty="0"/>
          </a:p>
        </p:txBody>
      </p:sp>
      <p:sp>
        <p:nvSpPr>
          <p:cNvPr id="3" name="Espaço Reservado para Texto 2"/>
          <p:cNvSpPr>
            <a:spLocks noGrp="1"/>
          </p:cNvSpPr>
          <p:nvPr>
            <p:ph type="body" idx="1"/>
          </p:nvPr>
        </p:nvSpPr>
        <p:spPr>
          <a:xfrm>
            <a:off x="2209800" y="2514600"/>
            <a:ext cx="5257800" cy="461665"/>
          </a:xfrm>
        </p:spPr>
        <p:txBody>
          <a:bodyPr/>
          <a:lstStyle/>
          <a:p>
            <a:pPr algn="ctr"/>
            <a:r>
              <a:rPr lang="pt-BR" sz="3000" b="1" dirty="0"/>
              <a:t>Redes em </a:t>
            </a:r>
            <a:r>
              <a:rPr lang="pt-BR" sz="3000" b="1" dirty="0" err="1"/>
              <a:t>Microsserviços</a:t>
            </a:r>
            <a:endParaRPr lang="pt-BR" sz="3000" b="1" dirty="0"/>
          </a:p>
        </p:txBody>
      </p:sp>
      <p:pic>
        <p:nvPicPr>
          <p:cNvPr id="1026" name="Picture 2" descr="LoRAWAN-Technology"/>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3586905"/>
            <a:ext cx="4876800" cy="3028208"/>
          </a:xfrm>
          <a:prstGeom prst="rect">
            <a:avLst/>
          </a:prstGeom>
          <a:noFill/>
          <a:extLst>
            <a:ext uri="{909E8E84-426E-40DD-AFC4-6F175D3DCCD1}">
              <a14:hiddenFill xmlns:a14="http://schemas.microsoft.com/office/drawing/2010/main">
                <a:solidFill>
                  <a:srgbClr val="FFFFFF"/>
                </a:solidFill>
              </a14:hiddenFill>
            </a:ext>
          </a:extLst>
        </p:spPr>
      </p:pic>
      <p:sp>
        <p:nvSpPr>
          <p:cNvPr id="5" name="Espaço Reservado para Texto 2"/>
          <p:cNvSpPr txBox="1">
            <a:spLocks/>
          </p:cNvSpPr>
          <p:nvPr/>
        </p:nvSpPr>
        <p:spPr>
          <a:xfrm>
            <a:off x="228600" y="1828800"/>
            <a:ext cx="2514600" cy="461665"/>
          </a:xfrm>
          <a:prstGeom prst="rect">
            <a:avLst/>
          </a:prstGeom>
        </p:spPr>
        <p:txBody>
          <a:bodyPr wrap="square" lIns="0" tIns="0" rIns="0" bIns="0">
            <a:spAutoFit/>
          </a:bodyPr>
          <a:lstStyle>
            <a:lvl1pPr marL="0">
              <a:defRPr sz="20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ctr"/>
            <a:r>
              <a:rPr lang="pt-BR" sz="3000" b="1" kern="0" dirty="0"/>
              <a:t>SUBTEMA</a:t>
            </a:r>
          </a:p>
        </p:txBody>
      </p:sp>
    </p:spTree>
    <p:extLst>
      <p:ext uri="{BB962C8B-B14F-4D97-AF65-F5344CB8AC3E}">
        <p14:creationId xmlns:p14="http://schemas.microsoft.com/office/powerpoint/2010/main" val="1742389133"/>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143000" y="533400"/>
            <a:ext cx="7378383" cy="1169551"/>
          </a:xfrm>
        </p:spPr>
        <p:txBody>
          <a:bodyPr/>
          <a:lstStyle/>
          <a:p>
            <a:pPr algn="ctr"/>
            <a:r>
              <a:rPr lang="pt-PT" sz="3200" b="1" dirty="0"/>
              <a:t>ROTEIRO</a:t>
            </a:r>
            <a:br>
              <a:rPr lang="pt-BR" sz="3200" b="1" dirty="0"/>
            </a:br>
            <a:endParaRPr lang="pt-BR" b="1" dirty="0"/>
          </a:p>
        </p:txBody>
      </p:sp>
      <p:sp>
        <p:nvSpPr>
          <p:cNvPr id="3" name="Espaço Reservado para Texto 2"/>
          <p:cNvSpPr>
            <a:spLocks noGrp="1"/>
          </p:cNvSpPr>
          <p:nvPr>
            <p:ph type="body" idx="1"/>
          </p:nvPr>
        </p:nvSpPr>
        <p:spPr>
          <a:xfrm>
            <a:off x="381000" y="2091171"/>
            <a:ext cx="7924800" cy="6447919"/>
          </a:xfrm>
        </p:spPr>
        <p:txBody>
          <a:bodyPr/>
          <a:lstStyle/>
          <a:p>
            <a:pPr marL="457200" indent="-457200" algn="l">
              <a:lnSpc>
                <a:spcPct val="150000"/>
              </a:lnSpc>
              <a:buFont typeface="+mj-lt"/>
              <a:buAutoNum type="arabicPeriod"/>
            </a:pPr>
            <a:r>
              <a:rPr lang="pt-PT" sz="2400" b="1" dirty="0">
                <a:latin typeface="Thaoma"/>
              </a:rPr>
              <a:t>INTRODUÇÃO</a:t>
            </a:r>
          </a:p>
          <a:p>
            <a:pPr marL="457200" indent="-457200" algn="l">
              <a:lnSpc>
                <a:spcPct val="150000"/>
              </a:lnSpc>
              <a:buFont typeface="+mj-lt"/>
              <a:buAutoNum type="arabicPeriod"/>
            </a:pPr>
            <a:r>
              <a:rPr lang="pt-PT" sz="2400" b="1" dirty="0">
                <a:latin typeface="Thaoma"/>
              </a:rPr>
              <a:t>CONCEITOS</a:t>
            </a:r>
          </a:p>
          <a:p>
            <a:pPr marL="457200" indent="-457200" algn="l">
              <a:lnSpc>
                <a:spcPct val="150000"/>
              </a:lnSpc>
              <a:buFont typeface="+mj-lt"/>
              <a:buAutoNum type="arabicPeriod"/>
            </a:pPr>
            <a:r>
              <a:rPr lang="pt-PT" sz="2400" b="1" dirty="0">
                <a:latin typeface="Thaoma"/>
              </a:rPr>
              <a:t>VANTAGENS / DESVANTAGENS</a:t>
            </a:r>
          </a:p>
          <a:p>
            <a:pPr marL="457200" indent="-457200" algn="l">
              <a:lnSpc>
                <a:spcPct val="150000"/>
              </a:lnSpc>
              <a:buFont typeface="+mj-lt"/>
              <a:buAutoNum type="arabicPeriod"/>
            </a:pPr>
            <a:r>
              <a:rPr lang="pt-BR" sz="2400" b="1" dirty="0">
                <a:effectLst/>
                <a:latin typeface="Thaoma"/>
                <a:ea typeface="Arial" panose="020B0604020202020204" pitchFamily="34" charset="0"/>
              </a:rPr>
              <a:t>PADRÕES DE RESILIÊNCIA E  TOLERÂNCIA A FALHAS</a:t>
            </a:r>
          </a:p>
          <a:p>
            <a:pPr marL="457200" indent="-457200" algn="l">
              <a:lnSpc>
                <a:spcPct val="150000"/>
              </a:lnSpc>
              <a:buFont typeface="+mj-lt"/>
              <a:buAutoNum type="arabicPeriod"/>
            </a:pPr>
            <a:r>
              <a:rPr lang="pt-BR" sz="2400" b="1" dirty="0">
                <a:effectLst/>
                <a:latin typeface="Thaoma"/>
                <a:ea typeface="Tahoma" panose="020B0604030504040204" pitchFamily="34" charset="0"/>
                <a:cs typeface="Tahoma" panose="020B0604030504040204" pitchFamily="34" charset="0"/>
              </a:rPr>
              <a:t>FERRAMENTAS E PRÁTICAS DE CONTÊINERIZAÇÃO </a:t>
            </a:r>
          </a:p>
          <a:p>
            <a:pPr algn="l">
              <a:lnSpc>
                <a:spcPct val="150000"/>
              </a:lnSpc>
            </a:pPr>
            <a:r>
              <a:rPr lang="pt-BR" sz="1800" b="1" dirty="0">
                <a:effectLst/>
                <a:latin typeface="Thaoma"/>
                <a:ea typeface="Arial" panose="020B0604020202020204" pitchFamily="34" charset="0"/>
              </a:rPr>
              <a:t>          (Docker e </a:t>
            </a:r>
            <a:r>
              <a:rPr lang="pt-BR" sz="1800" b="1" dirty="0" err="1">
                <a:effectLst/>
                <a:latin typeface="Thaoma"/>
                <a:ea typeface="Arial" panose="020B0604020202020204" pitchFamily="34" charset="0"/>
              </a:rPr>
              <a:t>Multi-Stage</a:t>
            </a:r>
            <a:r>
              <a:rPr lang="pt-BR" sz="1800" b="1" dirty="0">
                <a:effectLst/>
                <a:latin typeface="Thaoma"/>
                <a:ea typeface="Arial" panose="020B0604020202020204" pitchFamily="34" charset="0"/>
              </a:rPr>
              <a:t> Build)</a:t>
            </a:r>
          </a:p>
          <a:p>
            <a:pPr marL="457200" indent="-457200" algn="l">
              <a:lnSpc>
                <a:spcPct val="150000"/>
              </a:lnSpc>
              <a:buFont typeface="+mj-lt"/>
              <a:buAutoNum type="arabicPeriod"/>
            </a:pPr>
            <a:endParaRPr lang="pt-BR" sz="2400" b="1" dirty="0">
              <a:effectLst/>
              <a:latin typeface="Thaoma"/>
              <a:ea typeface="Arial" panose="020B0604020202020204" pitchFamily="34" charset="0"/>
            </a:endParaRPr>
          </a:p>
          <a:p>
            <a:pPr marL="457200" indent="-457200" algn="l">
              <a:lnSpc>
                <a:spcPct val="150000"/>
              </a:lnSpc>
              <a:buFont typeface="+mj-lt"/>
              <a:buAutoNum type="arabicPeriod"/>
            </a:pPr>
            <a:endParaRPr lang="pt-PT" sz="2400" b="1" dirty="0">
              <a:latin typeface="Thaoma"/>
            </a:endParaRPr>
          </a:p>
          <a:p>
            <a:pPr marL="457200" indent="-457200" algn="l">
              <a:lnSpc>
                <a:spcPct val="150000"/>
              </a:lnSpc>
              <a:buFont typeface="+mj-lt"/>
              <a:buAutoNum type="arabicPeriod"/>
            </a:pPr>
            <a:endParaRPr lang="pt-PT" sz="2400" b="1" dirty="0"/>
          </a:p>
          <a:p>
            <a:pPr marL="457200" indent="-457200" algn="ctr">
              <a:lnSpc>
                <a:spcPct val="150000"/>
              </a:lnSpc>
              <a:buFont typeface="+mj-lt"/>
              <a:buAutoNum type="arabicPeriod"/>
            </a:pPr>
            <a:endParaRPr lang="pt-PT" sz="2400" b="1" dirty="0"/>
          </a:p>
          <a:p>
            <a:pPr algn="ctr"/>
            <a:endParaRPr lang="pt-BR" sz="2800" b="1" dirty="0"/>
          </a:p>
          <a:p>
            <a:r>
              <a:rPr lang="pt-PT" b="1" dirty="0"/>
              <a:t> </a:t>
            </a:r>
            <a:endParaRPr lang="pt-BR" b="1" dirty="0"/>
          </a:p>
          <a:p>
            <a:endParaRPr lang="pt-BR" dirty="0"/>
          </a:p>
        </p:txBody>
      </p:sp>
    </p:spTree>
    <p:extLst>
      <p:ext uri="{BB962C8B-B14F-4D97-AF65-F5344CB8AC3E}">
        <p14:creationId xmlns:p14="http://schemas.microsoft.com/office/powerpoint/2010/main" val="281595854"/>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685800"/>
          </a:xfrm>
        </p:spPr>
        <p:txBody>
          <a:bodyPr/>
          <a:lstStyle/>
          <a:p>
            <a:pPr algn="ctr"/>
            <a:r>
              <a:rPr lang="pt-PT" sz="3200" b="1" dirty="0"/>
              <a:t>INTRODUÇÃO</a:t>
            </a:r>
            <a:br>
              <a:rPr lang="pt-BR" sz="3200" b="1" dirty="0"/>
            </a:br>
            <a:endParaRPr lang="pt-BR" b="1" dirty="0"/>
          </a:p>
        </p:txBody>
      </p:sp>
      <p:sp>
        <p:nvSpPr>
          <p:cNvPr id="3" name="Espaço Reservado para Texto 2"/>
          <p:cNvSpPr>
            <a:spLocks noGrp="1"/>
          </p:cNvSpPr>
          <p:nvPr>
            <p:ph type="body" idx="1"/>
          </p:nvPr>
        </p:nvSpPr>
        <p:spPr>
          <a:xfrm>
            <a:off x="609600" y="1769745"/>
            <a:ext cx="7848600" cy="5120441"/>
          </a:xfrm>
        </p:spPr>
        <p:txBody>
          <a:bodyPr/>
          <a:lstStyle/>
          <a:p>
            <a:pPr algn="just">
              <a:lnSpc>
                <a:spcPct val="150000"/>
              </a:lnSpc>
            </a:pPr>
            <a:r>
              <a:rPr lang="pt-BR" sz="1600" i="0" u="none" strike="noStrike" baseline="0" dirty="0">
                <a:solidFill>
                  <a:srgbClr val="000000"/>
                </a:solidFill>
                <a:latin typeface="Times New Roman" panose="02020603050405020304" pitchFamily="18" charset="0"/>
              </a:rPr>
              <a:t> </a:t>
            </a:r>
            <a:r>
              <a:rPr lang="pt-BR" sz="1600" dirty="0"/>
              <a:t>A constante evolução tecnológica tem redefinido os paradigmas de desenvolvimento de software, criando uma demanda por aplicações que sejam não apenas funcionais, mas também altamente performáticas, capazes de lidar com grandes demandas de requisições e utilizar recursos de forma inteligente. Em um contexto corporativo, onde as aplicações devem estar estritamente alinhadas às regras de negócio e às ferramentas da empresa, é imperativo que o sistema seja robusto e adaptável. No entanto, ao buscar a ampliação ou inovação, as arquiteturas tradicionais revelam suas fragilidades, impondo sérias barreiras em aspectos cruciais como escalabilidade, isolamento de falhas e velocidade de desenvolvimento. A persistência dessas limitações impacta diretamente o potencial de crescimento da aplicação. É diante dessa necessidade de modernização e superação de tais desafios que a arquitetura de </a:t>
            </a:r>
            <a:r>
              <a:rPr lang="pt-BR" sz="1600" dirty="0" err="1"/>
              <a:t>microsserviços</a:t>
            </a:r>
            <a:r>
              <a:rPr lang="pt-BR" sz="1600" dirty="0"/>
              <a:t> se estabelece. Ela surge como uma evolução arquitetural que aborda e resolve de forma eficaz os fatores essenciais para o sucesso e a sustentabilidade de aplicações em cenários de alta demanda e constante mudança.</a:t>
            </a:r>
          </a:p>
        </p:txBody>
      </p:sp>
    </p:spTree>
    <p:extLst>
      <p:ext uri="{BB962C8B-B14F-4D97-AF65-F5344CB8AC3E}">
        <p14:creationId xmlns:p14="http://schemas.microsoft.com/office/powerpoint/2010/main" val="4269648053"/>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1169551"/>
          </a:xfrm>
        </p:spPr>
        <p:txBody>
          <a:bodyPr/>
          <a:lstStyle/>
          <a:p>
            <a:pPr algn="ctr"/>
            <a:r>
              <a:rPr lang="pt-PT" sz="3200" b="1" dirty="0"/>
              <a:t>CONCEITOS</a:t>
            </a:r>
            <a:br>
              <a:rPr lang="pt-BR" sz="3200" b="1" dirty="0"/>
            </a:br>
            <a:endParaRPr lang="pt-BR" b="1" dirty="0"/>
          </a:p>
        </p:txBody>
      </p:sp>
      <p:sp>
        <p:nvSpPr>
          <p:cNvPr id="3" name="Espaço Reservado para Texto 2"/>
          <p:cNvSpPr>
            <a:spLocks noGrp="1"/>
          </p:cNvSpPr>
          <p:nvPr>
            <p:ph type="body" idx="1"/>
          </p:nvPr>
        </p:nvSpPr>
        <p:spPr>
          <a:xfrm>
            <a:off x="533400" y="1828800"/>
            <a:ext cx="7848600" cy="688458"/>
          </a:xfrm>
        </p:spPr>
        <p:txBody>
          <a:bodyPr/>
          <a:lstStyle/>
          <a:p>
            <a:pPr algn="just">
              <a:lnSpc>
                <a:spcPct val="150000"/>
              </a:lnSpc>
            </a:pPr>
            <a:endParaRPr lang="pt-BR" sz="1600" dirty="0"/>
          </a:p>
          <a:p>
            <a:pPr algn="just">
              <a:lnSpc>
                <a:spcPct val="150000"/>
              </a:lnSpc>
            </a:pPr>
            <a:endParaRPr lang="pt-BR" sz="1600" dirty="0"/>
          </a:p>
        </p:txBody>
      </p:sp>
      <p:sp>
        <p:nvSpPr>
          <p:cNvPr id="10" name="CaixaDeTexto 9">
            <a:extLst>
              <a:ext uri="{FF2B5EF4-FFF2-40B4-BE49-F238E27FC236}">
                <a16:creationId xmlns:a16="http://schemas.microsoft.com/office/drawing/2014/main" id="{EE4A1299-BCE9-453B-8DF6-34DCBE93CF44}"/>
              </a:ext>
            </a:extLst>
          </p:cNvPr>
          <p:cNvSpPr txBox="1"/>
          <p:nvPr/>
        </p:nvSpPr>
        <p:spPr>
          <a:xfrm>
            <a:off x="609600" y="2743200"/>
            <a:ext cx="4419600" cy="3600986"/>
          </a:xfrm>
          <a:prstGeom prst="rect">
            <a:avLst/>
          </a:prstGeom>
          <a:noFill/>
        </p:spPr>
        <p:txBody>
          <a:bodyPr wrap="square">
            <a:spAutoFit/>
          </a:bodyPr>
          <a:lstStyle/>
          <a:p>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Arquitetura </a:t>
            </a:r>
            <a:r>
              <a:rPr lang="pt-BR" sz="2400" b="1" i="0" u="none" strike="noStrike" baseline="0" dirty="0" err="1">
                <a:solidFill>
                  <a:srgbClr val="000000"/>
                </a:solidFill>
                <a:latin typeface="Tahoma" panose="020B0604030504040204" pitchFamily="34" charset="0"/>
                <a:ea typeface="Tahoma" panose="020B0604030504040204" pitchFamily="34" charset="0"/>
                <a:cs typeface="Tahoma" panose="020B0604030504040204" pitchFamily="34" charset="0"/>
              </a:rPr>
              <a:t>Microsserviço</a:t>
            </a:r>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 </a:t>
            </a:r>
          </a:p>
          <a:p>
            <a:endPar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algn="just"/>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É uma inovação na arquitetura de software, </a:t>
            </a:r>
            <a:r>
              <a:rPr lang="pt-BR" sz="2000" dirty="0">
                <a:solidFill>
                  <a:srgbClr val="000000"/>
                </a:solidFill>
                <a:latin typeface="Tahoma" panose="020B0604030504040204" pitchFamily="34" charset="0"/>
                <a:ea typeface="Tahoma" panose="020B0604030504040204" pitchFamily="34" charset="0"/>
                <a:cs typeface="Tahoma" panose="020B0604030504040204" pitchFamily="34" charset="0"/>
              </a:rPr>
              <a:t>consiste</a:t>
            </a:r>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 na construção de aplicações dividindo-as em serviços menores e independentes. Através deles há a possibilidade de utilização de métodos ágeis, integração e entrega contínua, que permitem a criação de serviços otimizados em grande escala</a:t>
            </a:r>
            <a:r>
              <a:rPr lang="pt-BR" sz="2000" dirty="0">
                <a:solidFill>
                  <a:srgbClr val="000000"/>
                </a:solidFill>
                <a:latin typeface="Tahoma" panose="020B0604030504040204" pitchFamily="34" charset="0"/>
                <a:ea typeface="Tahoma" panose="020B0604030504040204" pitchFamily="34" charset="0"/>
                <a:cs typeface="Tahoma" panose="020B0604030504040204" pitchFamily="34" charset="0"/>
              </a:rPr>
              <a:t>.</a:t>
            </a:r>
            <a:endParaRPr lang="pt-BR" sz="2000" dirty="0">
              <a:latin typeface="Tahoma" panose="020B0604030504040204" pitchFamily="34" charset="0"/>
              <a:ea typeface="Tahoma" panose="020B0604030504040204" pitchFamily="34" charset="0"/>
              <a:cs typeface="Tahoma" panose="020B0604030504040204" pitchFamily="34" charset="0"/>
            </a:endParaRPr>
          </a:p>
        </p:txBody>
      </p:sp>
      <p:pic>
        <p:nvPicPr>
          <p:cNvPr id="11" name="Imagem 10">
            <a:extLst>
              <a:ext uri="{FF2B5EF4-FFF2-40B4-BE49-F238E27FC236}">
                <a16:creationId xmlns:a16="http://schemas.microsoft.com/office/drawing/2014/main" id="{DC3C99C2-902F-45D6-AE19-5B176BB69E3B}"/>
              </a:ext>
            </a:extLst>
          </p:cNvPr>
          <p:cNvPicPr>
            <a:picLocks noChangeAspect="1"/>
          </p:cNvPicPr>
          <p:nvPr/>
        </p:nvPicPr>
        <p:blipFill>
          <a:blip r:embed="rId3"/>
          <a:stretch>
            <a:fillRect/>
          </a:stretch>
        </p:blipFill>
        <p:spPr>
          <a:xfrm>
            <a:off x="5067299" y="3124200"/>
            <a:ext cx="3581402" cy="2318766"/>
          </a:xfrm>
          <a:prstGeom prst="rect">
            <a:avLst/>
          </a:prstGeom>
        </p:spPr>
      </p:pic>
    </p:spTree>
    <p:extLst>
      <p:ext uri="{BB962C8B-B14F-4D97-AF65-F5344CB8AC3E}">
        <p14:creationId xmlns:p14="http://schemas.microsoft.com/office/powerpoint/2010/main" val="888215767"/>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514600" y="533400"/>
            <a:ext cx="4343400" cy="1169551"/>
          </a:xfrm>
        </p:spPr>
        <p:txBody>
          <a:bodyPr/>
          <a:lstStyle/>
          <a:p>
            <a:pPr algn="ctr"/>
            <a:r>
              <a:rPr lang="pt-PT" sz="3200" b="1" dirty="0"/>
              <a:t>CONCEITOS</a:t>
            </a:r>
            <a:br>
              <a:rPr lang="pt-BR" sz="3200" b="1" dirty="0"/>
            </a:br>
            <a:endParaRPr lang="pt-BR" b="1" dirty="0"/>
          </a:p>
        </p:txBody>
      </p:sp>
      <p:sp>
        <p:nvSpPr>
          <p:cNvPr id="3" name="Espaço Reservado para Texto 2"/>
          <p:cNvSpPr>
            <a:spLocks noGrp="1"/>
          </p:cNvSpPr>
          <p:nvPr>
            <p:ph type="body" idx="1"/>
          </p:nvPr>
        </p:nvSpPr>
        <p:spPr>
          <a:xfrm>
            <a:off x="533400" y="1828800"/>
            <a:ext cx="7848600" cy="688458"/>
          </a:xfrm>
        </p:spPr>
        <p:txBody>
          <a:bodyPr/>
          <a:lstStyle/>
          <a:p>
            <a:pPr algn="just">
              <a:lnSpc>
                <a:spcPct val="150000"/>
              </a:lnSpc>
            </a:pPr>
            <a:endParaRPr lang="pt-BR" sz="1600" dirty="0"/>
          </a:p>
          <a:p>
            <a:pPr algn="just">
              <a:lnSpc>
                <a:spcPct val="150000"/>
              </a:lnSpc>
            </a:pPr>
            <a:endParaRPr lang="pt-BR" sz="1600" dirty="0"/>
          </a:p>
        </p:txBody>
      </p:sp>
      <p:sp>
        <p:nvSpPr>
          <p:cNvPr id="9" name="CaixaDeTexto 8">
            <a:extLst>
              <a:ext uri="{FF2B5EF4-FFF2-40B4-BE49-F238E27FC236}">
                <a16:creationId xmlns:a16="http://schemas.microsoft.com/office/drawing/2014/main" id="{7B040F3A-EBF7-46A8-A760-B4AB5FA7C0F8}"/>
              </a:ext>
            </a:extLst>
          </p:cNvPr>
          <p:cNvSpPr txBox="1"/>
          <p:nvPr/>
        </p:nvSpPr>
        <p:spPr>
          <a:xfrm>
            <a:off x="542365" y="2194092"/>
            <a:ext cx="7162800" cy="707886"/>
          </a:xfrm>
          <a:prstGeom prst="rect">
            <a:avLst/>
          </a:prstGeom>
          <a:noFill/>
        </p:spPr>
        <p:txBody>
          <a:bodyPr wrap="square">
            <a:spAutoFit/>
          </a:bodyPr>
          <a:lstStyle/>
          <a:p>
            <a:r>
              <a:rPr lang="pt-BR" sz="2000" dirty="0">
                <a:latin typeface="Thaoma"/>
              </a:rPr>
              <a:t>Para melhor entendimento é importante fazer uma comparação entre as Arquiteturas Monolítica e de </a:t>
            </a:r>
            <a:r>
              <a:rPr lang="pt-BR" sz="2000" dirty="0" err="1">
                <a:latin typeface="Thaoma"/>
              </a:rPr>
              <a:t>Microsserviços</a:t>
            </a:r>
            <a:r>
              <a:rPr lang="pt-BR" sz="2000" dirty="0">
                <a:latin typeface="Thaoma"/>
              </a:rPr>
              <a:t>. </a:t>
            </a:r>
          </a:p>
        </p:txBody>
      </p:sp>
      <p:sp>
        <p:nvSpPr>
          <p:cNvPr id="7" name="CaixaDeTexto 6">
            <a:extLst>
              <a:ext uri="{FF2B5EF4-FFF2-40B4-BE49-F238E27FC236}">
                <a16:creationId xmlns:a16="http://schemas.microsoft.com/office/drawing/2014/main" id="{A109CBE1-A4C2-4CF4-B07C-A90F08C1382E}"/>
              </a:ext>
            </a:extLst>
          </p:cNvPr>
          <p:cNvSpPr txBox="1"/>
          <p:nvPr/>
        </p:nvSpPr>
        <p:spPr>
          <a:xfrm>
            <a:off x="542365" y="3048000"/>
            <a:ext cx="4029635" cy="2985433"/>
          </a:xfrm>
          <a:prstGeom prst="rect">
            <a:avLst/>
          </a:prstGeom>
          <a:noFill/>
        </p:spPr>
        <p:txBody>
          <a:bodyPr wrap="square">
            <a:spAutoFit/>
          </a:bodyPr>
          <a:lstStyle/>
          <a:p>
            <a:pPr algn="just"/>
            <a:r>
              <a:rPr lang="pt-BR" sz="2400" b="1"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Arquitetura Monolítica </a:t>
            </a:r>
          </a:p>
          <a:p>
            <a:pPr algn="just"/>
            <a:endParaRPr lang="pt-BR" sz="24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endParaRPr>
          </a:p>
          <a:p>
            <a:pPr algn="just"/>
            <a:r>
              <a:rPr lang="pt-BR" sz="2000" b="0" i="0" u="none" strike="noStrike" baseline="0" dirty="0">
                <a:solidFill>
                  <a:srgbClr val="000000"/>
                </a:solidFill>
                <a:latin typeface="Tahoma" panose="020B0604030504040204" pitchFamily="34" charset="0"/>
                <a:ea typeface="Tahoma" panose="020B0604030504040204" pitchFamily="34" charset="0"/>
                <a:cs typeface="Tahoma" panose="020B0604030504040204" pitchFamily="34" charset="0"/>
              </a:rPr>
              <a:t>Trabalha como um sistema único, não dividido, que roda em um único processo, uma aplicação de software em que diferentes componentes estão ligados a um único programa dentro de uma única plataforma</a:t>
            </a:r>
            <a:r>
              <a:rPr lang="pt-BR" sz="2000" b="0" i="0" u="none" strike="noStrike" baseline="0" dirty="0">
                <a:solidFill>
                  <a:srgbClr val="000000"/>
                </a:solidFill>
                <a:latin typeface="Times New Roman" panose="02020603050405020304" pitchFamily="18" charset="0"/>
              </a:rPr>
              <a:t>. </a:t>
            </a:r>
            <a:endParaRPr lang="pt-BR" sz="2000" dirty="0"/>
          </a:p>
        </p:txBody>
      </p:sp>
      <p:pic>
        <p:nvPicPr>
          <p:cNvPr id="8" name="Imagem 7">
            <a:extLst>
              <a:ext uri="{FF2B5EF4-FFF2-40B4-BE49-F238E27FC236}">
                <a16:creationId xmlns:a16="http://schemas.microsoft.com/office/drawing/2014/main" id="{4BD249E1-B22C-4E7B-ACF9-A25C389AD8BD}"/>
              </a:ext>
            </a:extLst>
          </p:cNvPr>
          <p:cNvPicPr>
            <a:picLocks noChangeAspect="1"/>
          </p:cNvPicPr>
          <p:nvPr/>
        </p:nvPicPr>
        <p:blipFill>
          <a:blip r:embed="rId3"/>
          <a:stretch>
            <a:fillRect/>
          </a:stretch>
        </p:blipFill>
        <p:spPr>
          <a:xfrm>
            <a:off x="5549153" y="3147025"/>
            <a:ext cx="1257300" cy="2209299"/>
          </a:xfrm>
          <a:prstGeom prst="rect">
            <a:avLst/>
          </a:prstGeom>
        </p:spPr>
      </p:pic>
    </p:spTree>
    <p:extLst>
      <p:ext uri="{BB962C8B-B14F-4D97-AF65-F5344CB8AC3E}">
        <p14:creationId xmlns:p14="http://schemas.microsoft.com/office/powerpoint/2010/main" val="361769995"/>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600200" y="609601"/>
            <a:ext cx="6629400" cy="461665"/>
          </a:xfrm>
        </p:spPr>
        <p:txBody>
          <a:bodyPr/>
          <a:lstStyle/>
          <a:p>
            <a:pPr algn="ctr"/>
            <a:r>
              <a:rPr lang="pt-PT" sz="3000" b="1" dirty="0"/>
              <a:t>VANTAGENS / DESVANTAGENS</a:t>
            </a:r>
            <a:endParaRPr lang="pt-BR" b="1" dirty="0"/>
          </a:p>
        </p:txBody>
      </p:sp>
      <p:sp>
        <p:nvSpPr>
          <p:cNvPr id="4" name="Rectangle 1"/>
          <p:cNvSpPr>
            <a:spLocks noGrp="1" noChangeArrowheads="1"/>
          </p:cNvSpPr>
          <p:nvPr>
            <p:ph type="body" idx="1"/>
          </p:nvPr>
        </p:nvSpPr>
        <p:spPr bwMode="auto">
          <a:xfrm>
            <a:off x="304800" y="1843445"/>
            <a:ext cx="7315200" cy="21544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0" eaLnBrk="0" fontAlgn="base" hangingPunct="0">
              <a:spcBef>
                <a:spcPct val="0"/>
              </a:spcBef>
              <a:spcAft>
                <a:spcPct val="0"/>
              </a:spcAft>
            </a:pPr>
            <a:r>
              <a:rPr lang="pt-PT" sz="2400" b="1" dirty="0">
                <a:latin typeface="Arial" panose="020B0604020202020204" pitchFamily="34" charset="0"/>
                <a:cs typeface="Arial" panose="020B0604020202020204" pitchFamily="34" charset="0"/>
              </a:rPr>
              <a:t>VANTAGENS </a:t>
            </a:r>
            <a:r>
              <a:rPr lang="pt-PT" sz="1800" b="1" dirty="0">
                <a:latin typeface="Arial" panose="020B0604020202020204" pitchFamily="34" charset="0"/>
                <a:cs typeface="Arial" panose="020B0604020202020204" pitchFamily="34" charset="0"/>
              </a:rPr>
              <a:t>:</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A</a:t>
            </a:r>
            <a:r>
              <a:rPr lang="pt-BR" dirty="0">
                <a:effectLst/>
                <a:latin typeface="Thaoma"/>
                <a:ea typeface="Arial" panose="020B0604020202020204" pitchFamily="34" charset="0"/>
              </a:rPr>
              <a:t>umento da Confiabilidade </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Aumento d</a:t>
            </a:r>
            <a:r>
              <a:rPr lang="pt-BR" dirty="0">
                <a:effectLst/>
                <a:latin typeface="Thaoma"/>
                <a:ea typeface="Arial" panose="020B0604020202020204" pitchFamily="34" charset="0"/>
              </a:rPr>
              <a:t>o Desempenho </a:t>
            </a:r>
          </a:p>
          <a:p>
            <a:pPr marL="342900" indent="-342900" algn="just">
              <a:lnSpc>
                <a:spcPct val="150000"/>
              </a:lnSpc>
              <a:buFont typeface="Wingdings" panose="05000000000000000000" pitchFamily="2" charset="2"/>
              <a:buChar char="Ø"/>
            </a:pPr>
            <a:r>
              <a:rPr lang="pt-BR" dirty="0">
                <a:latin typeface="Thaoma"/>
                <a:ea typeface="Arial" panose="020B0604020202020204" pitchFamily="34" charset="0"/>
              </a:rPr>
              <a:t>E</a:t>
            </a:r>
            <a:r>
              <a:rPr lang="pt-BR" dirty="0">
                <a:effectLst/>
                <a:latin typeface="Thaoma"/>
                <a:ea typeface="Arial" panose="020B0604020202020204" pitchFamily="34" charset="0"/>
              </a:rPr>
              <a:t>scalabilidade</a:t>
            </a:r>
          </a:p>
          <a:p>
            <a:pPr marL="342900" indent="-342900">
              <a:buFont typeface="Wingdings" panose="05000000000000000000" pitchFamily="2" charset="2"/>
              <a:buChar char="Ø"/>
            </a:pPr>
            <a:r>
              <a:rPr lang="pt-BR" dirty="0">
                <a:latin typeface="Thaoma"/>
                <a:ea typeface="Arial" panose="020B0604020202020204" pitchFamily="34" charset="0"/>
              </a:rPr>
              <a:t>R</a:t>
            </a:r>
            <a:r>
              <a:rPr lang="pt-BR" dirty="0">
                <a:effectLst/>
                <a:latin typeface="Thaoma"/>
                <a:ea typeface="Arial" panose="020B0604020202020204" pitchFamily="34" charset="0"/>
              </a:rPr>
              <a:t>edundância</a:t>
            </a:r>
            <a:endParaRPr lang="pt-BR" dirty="0">
              <a:latin typeface="Thaoma"/>
              <a:ea typeface="Tahoma" panose="020B0604030504040204" pitchFamily="34" charset="0"/>
              <a:cs typeface="Tahoma" panose="020B0604030504040204" pitchFamily="34" charset="0"/>
            </a:endParaRPr>
          </a:p>
        </p:txBody>
      </p:sp>
      <p:sp>
        <p:nvSpPr>
          <p:cNvPr id="7" name="Rectangle 1">
            <a:extLst>
              <a:ext uri="{FF2B5EF4-FFF2-40B4-BE49-F238E27FC236}">
                <a16:creationId xmlns:a16="http://schemas.microsoft.com/office/drawing/2014/main" id="{DC7545BB-CC63-4578-B31F-ECA0521D9761}"/>
              </a:ext>
            </a:extLst>
          </p:cNvPr>
          <p:cNvSpPr txBox="1">
            <a:spLocks noChangeArrowheads="1"/>
          </p:cNvSpPr>
          <p:nvPr/>
        </p:nvSpPr>
        <p:spPr bwMode="auto">
          <a:xfrm>
            <a:off x="295835" y="3895464"/>
            <a:ext cx="7315200" cy="24362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0">
              <a:defRPr sz="2000" b="0" i="0">
                <a:solidFill>
                  <a:schemeClr val="tx1"/>
                </a:solidFill>
                <a:latin typeface="Tahoma"/>
                <a:ea typeface="+mn-ea"/>
                <a:cs typeface="Tahoma"/>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algn="just" rtl="0" eaLnBrk="0" fontAlgn="base" hangingPunct="0">
              <a:lnSpc>
                <a:spcPct val="150000"/>
              </a:lnSpc>
              <a:spcBef>
                <a:spcPct val="0"/>
              </a:spcBef>
              <a:spcAft>
                <a:spcPct val="0"/>
              </a:spcAft>
            </a:pPr>
            <a:r>
              <a:rPr lang="pt-PT" sz="2400" b="1" kern="0" dirty="0">
                <a:latin typeface="Arial" panose="020B0604020202020204" pitchFamily="34" charset="0"/>
                <a:cs typeface="Arial" panose="020B0604020202020204" pitchFamily="34" charset="0"/>
              </a:rPr>
              <a:t>DESVANTAGENS: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PT" kern="0" dirty="0">
                <a:latin typeface="Thaoma"/>
              </a:rPr>
              <a:t>Maior Complexidade do Sistemas Distrbuídos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BR" dirty="0">
                <a:solidFill>
                  <a:srgbClr val="000000"/>
                </a:solidFill>
                <a:latin typeface="Thaoma"/>
              </a:rPr>
              <a:t>Maior Dificuldade de Implantação (Diversos Serviços)</a:t>
            </a:r>
          </a:p>
          <a:p>
            <a:pPr marL="342900" indent="-342900" algn="just" rtl="0" eaLnBrk="0" fontAlgn="base" hangingPunct="0">
              <a:lnSpc>
                <a:spcPct val="150000"/>
              </a:lnSpc>
              <a:spcBef>
                <a:spcPct val="0"/>
              </a:spcBef>
              <a:spcAft>
                <a:spcPct val="0"/>
              </a:spcAft>
              <a:buFont typeface="Wingdings" panose="05000000000000000000" pitchFamily="2" charset="2"/>
              <a:buChar char="ü"/>
            </a:pPr>
            <a:r>
              <a:rPr lang="pt-BR" b="0" i="0" u="none" strike="noStrike" baseline="0" dirty="0">
                <a:solidFill>
                  <a:srgbClr val="000000"/>
                </a:solidFill>
                <a:latin typeface="Thaoma"/>
              </a:rPr>
              <a:t>Gerenciamento Mais Complexo (Diversas Inst</a:t>
            </a:r>
            <a:r>
              <a:rPr lang="pt-BR" dirty="0">
                <a:solidFill>
                  <a:srgbClr val="000000"/>
                </a:solidFill>
                <a:latin typeface="Thaoma"/>
              </a:rPr>
              <a:t>âncias)</a:t>
            </a:r>
          </a:p>
          <a:p>
            <a:pPr algn="just" rtl="0" eaLnBrk="0" fontAlgn="base" hangingPunct="0">
              <a:lnSpc>
                <a:spcPct val="150000"/>
              </a:lnSpc>
              <a:spcBef>
                <a:spcPct val="0"/>
              </a:spcBef>
              <a:spcAft>
                <a:spcPct val="0"/>
              </a:spcAft>
            </a:pPr>
            <a:r>
              <a:rPr lang="pt-BR" b="0" i="0" u="none" strike="noStrike" baseline="0" dirty="0">
                <a:solidFill>
                  <a:srgbClr val="000000"/>
                </a:solidFill>
                <a:latin typeface="Times New Roman" panose="02020603050405020304" pitchFamily="18" charset="0"/>
              </a:rPr>
              <a:t> </a:t>
            </a:r>
            <a:endParaRPr lang="pt-PT" b="1" kern="0" dirty="0"/>
          </a:p>
        </p:txBody>
      </p:sp>
    </p:spTree>
    <p:extLst>
      <p:ext uri="{BB962C8B-B14F-4D97-AF65-F5344CB8AC3E}">
        <p14:creationId xmlns:p14="http://schemas.microsoft.com/office/powerpoint/2010/main" val="307547605"/>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661993"/>
          </a:xfrm>
        </p:spPr>
        <p:txBody>
          <a:bodyPr/>
          <a:lstStyle/>
          <a:p>
            <a:pPr algn="ctr"/>
            <a:r>
              <a:rPr lang="pt-BR" sz="3200" b="1" dirty="0">
                <a:effectLst/>
                <a:latin typeface="Thaoma"/>
                <a:ea typeface="Arial" panose="020B0604020202020204" pitchFamily="34" charset="0"/>
              </a:rPr>
              <a:t>PADRÕES DE RESILIÊNCIA E  TOLERÂNCIA A FALHAS</a:t>
            </a: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69794" y="2209800"/>
            <a:ext cx="8404412" cy="58785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Padrões de Resiliência (</a:t>
            </a:r>
            <a:r>
              <a:rPr lang="pt-BR" sz="2400" b="1" dirty="0" err="1">
                <a:effectLst/>
                <a:latin typeface="Tahoma" panose="020B0604030504040204" pitchFamily="34" charset="0"/>
                <a:ea typeface="Tahoma" panose="020B0604030504040204" pitchFamily="34" charset="0"/>
                <a:cs typeface="Tahoma" panose="020B0604030504040204" pitchFamily="34" charset="0"/>
              </a:rPr>
              <a:t>Fault</a:t>
            </a:r>
            <a:r>
              <a:rPr lang="pt-BR" sz="2400" b="1" dirty="0">
                <a:effectLst/>
                <a:latin typeface="Tahoma" panose="020B0604030504040204" pitchFamily="34" charset="0"/>
                <a:ea typeface="Tahoma" panose="020B0604030504040204" pitchFamily="34" charset="0"/>
                <a:cs typeface="Tahoma" panose="020B0604030504040204" pitchFamily="34" charset="0"/>
              </a:rPr>
              <a:t> </a:t>
            </a:r>
            <a:r>
              <a:rPr lang="pt-BR" sz="24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2400" b="1" dirty="0">
                <a:effectLst/>
                <a:latin typeface="Tahoma" panose="020B0604030504040204" pitchFamily="34" charset="0"/>
                <a:ea typeface="Tahoma" panose="020B0604030504040204" pitchFamily="34" charset="0"/>
                <a:cs typeface="Tahoma" panose="020B0604030504040204" pitchFamily="34" charset="0"/>
              </a:rPr>
              <a:t>)</a:t>
            </a:r>
          </a:p>
          <a:p>
            <a:pPr marL="342900" indent="-34290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Padrão de Disjuntor (</a:t>
            </a:r>
            <a:r>
              <a:rPr lang="pt-BR" dirty="0" err="1">
                <a:effectLst/>
                <a:latin typeface="Tahoma" panose="020B0604030504040204" pitchFamily="34" charset="0"/>
                <a:ea typeface="Tahoma" panose="020B0604030504040204" pitchFamily="34" charset="0"/>
                <a:cs typeface="Tahoma" panose="020B0604030504040204" pitchFamily="34" charset="0"/>
              </a:rPr>
              <a:t>Circuit</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Breaker</a:t>
            </a:r>
            <a:r>
              <a:rPr lang="pt-BR" dirty="0">
                <a:effectLst/>
                <a:latin typeface="Tahoma" panose="020B0604030504040204" pitchFamily="34" charset="0"/>
                <a:ea typeface="Tahoma" panose="020B0604030504040204" pitchFamily="34" charset="0"/>
                <a:cs typeface="Tahoma" panose="020B0604030504040204" pitchFamily="34" charset="0"/>
              </a:rPr>
              <a:t>)</a:t>
            </a:r>
            <a:endParaRPr lang="pt-BR" dirty="0">
              <a:latin typeface="Tahoma" panose="020B0604030504040204" pitchFamily="34" charset="0"/>
              <a:ea typeface="Tahoma" panose="020B0604030504040204" pitchFamily="34" charset="0"/>
              <a:cs typeface="Tahoma" panose="020B0604030504040204" pitchFamily="34" charset="0"/>
            </a:endParaRPr>
          </a:p>
          <a:p>
            <a:pPr marL="342900" indent="-34290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Padrão de Recuo (</a:t>
            </a:r>
            <a:r>
              <a:rPr lang="pt-BR" dirty="0" err="1">
                <a:effectLst/>
                <a:latin typeface="Tahoma" panose="020B0604030504040204" pitchFamily="34" charset="0"/>
                <a:ea typeface="Tahoma" panose="020B0604030504040204" pitchFamily="34" charset="0"/>
                <a:cs typeface="Tahoma" panose="020B0604030504040204" pitchFamily="34" charset="0"/>
              </a:rPr>
              <a:t>Retry</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with</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Backoff</a:t>
            </a:r>
            <a:r>
              <a:rPr lang="pt-BR"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b="1" dirty="0">
                <a:effectLst/>
                <a:latin typeface="Tahoma" panose="020B0604030504040204" pitchFamily="34" charset="0"/>
                <a:ea typeface="Tahoma" panose="020B0604030504040204" pitchFamily="34" charset="0"/>
                <a:cs typeface="Tahoma" panose="020B0604030504040204" pitchFamily="34" charset="0"/>
              </a:rPr>
              <a:t>(</a:t>
            </a:r>
            <a:r>
              <a:rPr lang="pt-BR" b="1" dirty="0" err="1">
                <a:effectLst/>
                <a:latin typeface="Tahoma" panose="020B0604030504040204" pitchFamily="34" charset="0"/>
                <a:ea typeface="Tahoma" panose="020B0604030504040204" pitchFamily="34" charset="0"/>
                <a:cs typeface="Tahoma" panose="020B0604030504040204" pitchFamily="34" charset="0"/>
              </a:rPr>
              <a:t>Coordination</a:t>
            </a:r>
            <a:r>
              <a:rPr lang="pt-BR" b="1" dirty="0">
                <a:effectLst/>
                <a:latin typeface="Tahoma" panose="020B0604030504040204" pitchFamily="34" charset="0"/>
                <a:ea typeface="Tahoma" panose="020B0604030504040204" pitchFamily="34" charset="0"/>
                <a:cs typeface="Tahoma" panose="020B0604030504040204" pitchFamily="34" charset="0"/>
              </a:rPr>
              <a:t>)</a:t>
            </a:r>
          </a:p>
          <a:p>
            <a:pPr marL="285750" indent="-285750">
              <a:lnSpc>
                <a:spcPct val="115000"/>
              </a:lnSpc>
              <a:buFont typeface="Wingdings" panose="05000000000000000000" pitchFamily="2" charset="2"/>
              <a:buChar char="v"/>
            </a:pPr>
            <a:r>
              <a:rPr lang="pt-BR" sz="1800" dirty="0">
                <a:effectLst/>
                <a:latin typeface="Arial" panose="020B0604020202020204" pitchFamily="34" charset="0"/>
                <a:ea typeface="Arial" panose="020B0604020202020204" pitchFamily="34" charset="0"/>
              </a:rPr>
              <a:t> </a:t>
            </a:r>
            <a:r>
              <a:rPr lang="pt-BR" dirty="0">
                <a:effectLst/>
                <a:latin typeface="Tahoma" panose="020B0604030504040204" pitchFamily="34" charset="0"/>
                <a:ea typeface="Tahoma" panose="020B0604030504040204" pitchFamily="34" charset="0"/>
                <a:cs typeface="Tahoma" panose="020B0604030504040204" pitchFamily="34" charset="0"/>
              </a:rPr>
              <a:t>Padrões Saga</a:t>
            </a:r>
          </a:p>
          <a:p>
            <a:pPr marL="285750" indent="-285750">
              <a:lnSpc>
                <a:spcPct val="115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Caixa de Saída Transacional (</a:t>
            </a:r>
            <a:r>
              <a:rPr lang="pt-BR" dirty="0" err="1">
                <a:effectLst/>
                <a:latin typeface="Tahoma" panose="020B0604030504040204" pitchFamily="34" charset="0"/>
                <a:ea typeface="Tahoma" panose="020B0604030504040204" pitchFamily="34" charset="0"/>
                <a:cs typeface="Tahoma" panose="020B0604030504040204" pitchFamily="34" charset="0"/>
              </a:rPr>
              <a:t>Transactional</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Outbox</a:t>
            </a:r>
            <a:r>
              <a:rPr lang="pt-BR" dirty="0">
                <a:effectLst/>
                <a:latin typeface="Tahoma" panose="020B0604030504040204" pitchFamily="34" charset="0"/>
                <a:ea typeface="Tahoma" panose="020B0604030504040204" pitchFamily="34" charset="0"/>
                <a:cs typeface="Tahoma" panose="020B0604030504040204" pitchFamily="34" charset="0"/>
              </a:rPr>
              <a:t>)</a:t>
            </a:r>
          </a:p>
          <a:p>
            <a:pPr marL="285750" indent="-285750">
              <a:lnSpc>
                <a:spcPct val="115000"/>
              </a:lnSpc>
              <a:buFont typeface="Wingdings" panose="05000000000000000000" pitchFamily="2" charset="2"/>
              <a:buChar char="v"/>
            </a:pPr>
            <a:r>
              <a:rPr lang="pt-BR" dirty="0">
                <a:latin typeface="Tahoma" panose="020B0604030504040204" pitchFamily="34" charset="0"/>
                <a:ea typeface="Tahoma" panose="020B0604030504040204" pitchFamily="34" charset="0"/>
                <a:cs typeface="Tahoma" panose="020B0604030504040204" pitchFamily="34" charset="0"/>
              </a:rPr>
              <a:t> </a:t>
            </a:r>
            <a:r>
              <a:rPr lang="pt-BR" dirty="0">
                <a:effectLst/>
                <a:latin typeface="Tahoma" panose="020B0604030504040204" pitchFamily="34" charset="0"/>
                <a:ea typeface="Tahoma" panose="020B0604030504040204" pitchFamily="34" charset="0"/>
                <a:cs typeface="Tahoma" panose="020B0604030504040204" pitchFamily="34" charset="0"/>
              </a:rPr>
              <a:t>Padrão Publicar/Assinar (Pub/Sub)</a:t>
            </a:r>
          </a:p>
          <a:p>
            <a:pPr marL="285750" indent="-285750" algn="just">
              <a:lnSpc>
                <a:spcPct val="150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Dispersão e Coleta (</a:t>
            </a:r>
            <a:r>
              <a:rPr lang="pt-BR" dirty="0" err="1">
                <a:effectLst/>
                <a:latin typeface="Tahoma" panose="020B0604030504040204" pitchFamily="34" charset="0"/>
                <a:ea typeface="Tahoma" panose="020B0604030504040204" pitchFamily="34" charset="0"/>
                <a:cs typeface="Tahoma" panose="020B0604030504040204" pitchFamily="34" charset="0"/>
              </a:rPr>
              <a:t>Scatter-Gather</a:t>
            </a:r>
            <a:r>
              <a:rPr lang="pt-BR" dirty="0">
                <a:effectLst/>
                <a:latin typeface="Tahoma" panose="020B0604030504040204" pitchFamily="34" charset="0"/>
                <a:ea typeface="Tahoma" panose="020B0604030504040204" pitchFamily="34" charset="0"/>
                <a:cs typeface="Tahoma" panose="020B0604030504040204" pitchFamily="34" charset="0"/>
              </a:rPr>
              <a:t>) </a:t>
            </a:r>
          </a:p>
          <a:p>
            <a:pPr marL="285750" indent="-285750">
              <a:lnSpc>
                <a:spcPct val="115000"/>
              </a:lnSpc>
              <a:buFont typeface="Wingdings" panose="05000000000000000000" pitchFamily="2" charset="2"/>
              <a:buChar char="v"/>
            </a:pPr>
            <a:r>
              <a:rPr lang="pt-BR" dirty="0">
                <a:effectLst/>
                <a:latin typeface="Tahoma" panose="020B0604030504040204" pitchFamily="34" charset="0"/>
                <a:ea typeface="Tahoma" panose="020B0604030504040204" pitchFamily="34" charset="0"/>
                <a:cs typeface="Tahoma" panose="020B0604030504040204" pitchFamily="34" charset="0"/>
              </a:rPr>
              <a:t> Padrão de Fornecimento de Eventos (</a:t>
            </a:r>
            <a:r>
              <a:rPr lang="pt-BR" dirty="0" err="1">
                <a:effectLst/>
                <a:latin typeface="Tahoma" panose="020B0604030504040204" pitchFamily="34" charset="0"/>
                <a:ea typeface="Tahoma" panose="020B0604030504040204" pitchFamily="34" charset="0"/>
                <a:cs typeface="Tahoma" panose="020B0604030504040204" pitchFamily="34" charset="0"/>
              </a:rPr>
              <a:t>Event</a:t>
            </a:r>
            <a:r>
              <a:rPr lang="pt-BR" dirty="0">
                <a:effectLst/>
                <a:latin typeface="Tahoma" panose="020B0604030504040204" pitchFamily="34" charset="0"/>
                <a:ea typeface="Tahoma" panose="020B0604030504040204" pitchFamily="34" charset="0"/>
                <a:cs typeface="Tahoma" panose="020B0604030504040204" pitchFamily="34" charset="0"/>
              </a:rPr>
              <a:t> </a:t>
            </a:r>
            <a:r>
              <a:rPr lang="pt-BR" dirty="0" err="1">
                <a:effectLst/>
                <a:latin typeface="Tahoma" panose="020B0604030504040204" pitchFamily="34" charset="0"/>
                <a:ea typeface="Tahoma" panose="020B0604030504040204" pitchFamily="34" charset="0"/>
                <a:cs typeface="Tahoma" panose="020B0604030504040204" pitchFamily="34" charset="0"/>
              </a:rPr>
              <a:t>Sourcing</a:t>
            </a:r>
            <a:r>
              <a:rPr lang="pt-BR"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endParaRPr lang="pt-BR" b="1"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2400" b="1"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2400" b="1" dirty="0">
              <a:effectLst/>
              <a:latin typeface="Tahoma" panose="020B0604030504040204" pitchFamily="34" charset="0"/>
              <a:ea typeface="Tahoma" panose="020B0604030504040204" pitchFamily="34" charset="0"/>
              <a:cs typeface="Tahoma" panose="020B0604030504040204" pitchFamily="34" charset="0"/>
            </a:endParaRPr>
          </a:p>
          <a:p>
            <a:endParaRPr lang="pt-BR" dirty="0">
              <a:latin typeface="Thaoma"/>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253894034"/>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109819"/>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Resiliência </a:t>
            </a:r>
            <a:br>
              <a:rPr lang="pt-BR" sz="3200" b="1" dirty="0">
                <a:effectLst/>
                <a:latin typeface="Tahoma" panose="020B0604030504040204" pitchFamily="34" charset="0"/>
                <a:ea typeface="Tahoma" panose="020B0604030504040204" pitchFamily="34" charset="0"/>
                <a:cs typeface="Tahoma" panose="020B0604030504040204" pitchFamily="34" charset="0"/>
              </a:rPr>
            </a:br>
            <a:r>
              <a:rPr lang="pt-BR" sz="3200" b="1" dirty="0">
                <a:effectLst/>
                <a:latin typeface="Tahoma" panose="020B0604030504040204" pitchFamily="34" charset="0"/>
                <a:ea typeface="Tahoma" panose="020B0604030504040204" pitchFamily="34" charset="0"/>
                <a:cs typeface="Tahoma" panose="020B0604030504040204" pitchFamily="34" charset="0"/>
              </a:rPr>
              <a:t>(</a:t>
            </a:r>
            <a:r>
              <a:rPr lang="pt-BR" sz="3200" b="1" dirty="0" err="1">
                <a:effectLst/>
                <a:latin typeface="Tahoma" panose="020B0604030504040204" pitchFamily="34" charset="0"/>
                <a:ea typeface="Tahoma" panose="020B0604030504040204" pitchFamily="34" charset="0"/>
                <a:cs typeface="Tahoma" panose="020B0604030504040204" pitchFamily="34" charset="0"/>
              </a:rPr>
              <a:t>Fault</a:t>
            </a:r>
            <a:r>
              <a:rPr lang="pt-BR" sz="3200" b="1" dirty="0">
                <a:effectLst/>
                <a:latin typeface="Tahoma" panose="020B0604030504040204" pitchFamily="34" charset="0"/>
                <a:ea typeface="Tahoma" panose="020B0604030504040204" pitchFamily="34" charset="0"/>
                <a:cs typeface="Tahoma" panose="020B0604030504040204" pitchFamily="34" charset="0"/>
              </a:rPr>
              <a:t> </a:t>
            </a:r>
            <a:r>
              <a:rPr lang="pt-BR" sz="32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3200" b="1" dirty="0">
                <a:effectLst/>
                <a:latin typeface="Tahoma" panose="020B0604030504040204" pitchFamily="34" charset="0"/>
                <a:ea typeface="Tahoma" panose="020B0604030504040204" pitchFamily="34" charset="0"/>
                <a:cs typeface="Tahoma" panose="020B0604030504040204" pitchFamily="34" charset="0"/>
              </a:rPr>
              <a:t>)</a:t>
            </a: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228600" y="2057402"/>
            <a:ext cx="7315200" cy="3447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haoma"/>
                <a:ea typeface="Arial" panose="020B0604020202020204" pitchFamily="34" charset="0"/>
              </a:rPr>
              <a:t>Padrão de Disjuntor (</a:t>
            </a:r>
            <a:r>
              <a:rPr lang="pt-BR" sz="2400" b="1" dirty="0" err="1">
                <a:effectLst/>
                <a:latin typeface="Thaoma"/>
                <a:ea typeface="Arial" panose="020B0604020202020204" pitchFamily="34" charset="0"/>
              </a:rPr>
              <a:t>Circuit</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Breaker</a:t>
            </a:r>
            <a:r>
              <a:rPr lang="pt-BR" sz="2400" b="1" dirty="0">
                <a:effectLst/>
                <a:latin typeface="Thaoma"/>
                <a:ea typeface="Arial" panose="020B0604020202020204" pitchFamily="34" charset="0"/>
              </a:rPr>
              <a:t>):</a:t>
            </a:r>
            <a:r>
              <a:rPr lang="pt-BR" sz="2400" dirty="0">
                <a:effectLst/>
                <a:latin typeface="Thaoma"/>
                <a:ea typeface="Arial" panose="020B0604020202020204" pitchFamily="34" charset="0"/>
              </a:rPr>
              <a:t> </a:t>
            </a:r>
          </a:p>
          <a:p>
            <a:pPr algn="just">
              <a:lnSpc>
                <a:spcPct val="150000"/>
              </a:lnSpc>
            </a:pPr>
            <a:r>
              <a:rPr lang="pt-BR" sz="1800" dirty="0">
                <a:effectLst/>
                <a:latin typeface="Thaoma"/>
                <a:ea typeface="Arial" panose="020B0604020202020204" pitchFamily="34" charset="0"/>
              </a:rPr>
              <a:t>Impede que um serviço chamador repita chamadas para um serviço receptor que já causou falhas ou </a:t>
            </a:r>
            <a:r>
              <a:rPr lang="pt-BR" sz="1800" i="1" dirty="0">
                <a:effectLst/>
                <a:latin typeface="Thaoma"/>
                <a:ea typeface="Arial" panose="020B0604020202020204" pitchFamily="34" charset="0"/>
              </a:rPr>
              <a:t>timeouts</a:t>
            </a:r>
            <a:r>
              <a:rPr lang="pt-BR" sz="1800" dirty="0">
                <a:effectLst/>
                <a:latin typeface="Thaoma"/>
                <a:ea typeface="Arial" panose="020B0604020202020204" pitchFamily="34" charset="0"/>
              </a:rPr>
              <a:t> repetidos.</a:t>
            </a:r>
          </a:p>
          <a:p>
            <a:pPr algn="just">
              <a:lnSpc>
                <a:spcPct val="150000"/>
              </a:lnSpc>
            </a:pPr>
            <a:r>
              <a:rPr lang="pt-BR" sz="1800" dirty="0">
                <a:effectLst/>
                <a:latin typeface="Thaoma"/>
                <a:ea typeface="Arial" panose="020B0604020202020204" pitchFamily="34" charset="0"/>
              </a:rPr>
              <a:t>O objeto disjuntor monitora as chamadas e, se as falhas excederem um limite, ele </a:t>
            </a:r>
            <a:r>
              <a:rPr lang="pt-BR" sz="1800" b="1" dirty="0">
                <a:effectLst/>
                <a:latin typeface="Thaoma"/>
                <a:ea typeface="Arial" panose="020B0604020202020204" pitchFamily="34" charset="0"/>
              </a:rPr>
              <a:t>abre o circuito</a:t>
            </a:r>
            <a:r>
              <a:rPr lang="pt-BR" sz="1800" dirty="0">
                <a:effectLst/>
                <a:latin typeface="Thaoma"/>
                <a:ea typeface="Arial" panose="020B0604020202020204" pitchFamily="34" charset="0"/>
              </a:rPr>
              <a:t> (</a:t>
            </a:r>
            <a:r>
              <a:rPr lang="pt-BR" sz="1800" dirty="0">
                <a:solidFill>
                  <a:srgbClr val="188038"/>
                </a:solidFill>
                <a:effectLst/>
                <a:latin typeface="Thaoma"/>
                <a:ea typeface="Roboto Mono"/>
                <a:cs typeface="Roboto Mono"/>
              </a:rPr>
              <a:t>OPEN</a:t>
            </a:r>
            <a:r>
              <a:rPr lang="pt-BR" sz="1800" dirty="0">
                <a:effectLst/>
                <a:latin typeface="Thaoma"/>
                <a:ea typeface="Arial" panose="020B0604020202020204" pitchFamily="34" charset="0"/>
              </a:rPr>
              <a:t>), interrompendo o roteamento. Isso é crucial, pois as chamadas repetidas sem disjuntor podem afetar o custo e o desempenho</a:t>
            </a:r>
          </a:p>
          <a:p>
            <a:endParaRPr lang="pt-BR" dirty="0">
              <a:latin typeface="Thaoma"/>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497716285"/>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a:spLocks noGrp="1" noChangeArrowheads="1"/>
          </p:cNvSpPr>
          <p:nvPr>
            <p:ph type="body" idx="1"/>
          </p:nvPr>
        </p:nvSpPr>
        <p:spPr bwMode="auto">
          <a:xfrm>
            <a:off x="609600" y="2191731"/>
            <a:ext cx="7315200" cy="39273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haoma"/>
                <a:ea typeface="Arial" panose="020B0604020202020204" pitchFamily="34" charset="0"/>
              </a:rPr>
              <a:t>Padrão de Recuo (</a:t>
            </a:r>
            <a:r>
              <a:rPr lang="pt-BR" sz="2400" b="1" dirty="0" err="1">
                <a:effectLst/>
                <a:latin typeface="Thaoma"/>
                <a:ea typeface="Arial" panose="020B0604020202020204" pitchFamily="34" charset="0"/>
              </a:rPr>
              <a:t>Retry</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with</a:t>
            </a:r>
            <a:r>
              <a:rPr lang="pt-BR" sz="2400" b="1" dirty="0">
                <a:effectLst/>
                <a:latin typeface="Thaoma"/>
                <a:ea typeface="Arial" panose="020B0604020202020204" pitchFamily="34" charset="0"/>
              </a:rPr>
              <a:t> </a:t>
            </a:r>
            <a:r>
              <a:rPr lang="pt-BR" sz="2400" b="1" dirty="0" err="1">
                <a:effectLst/>
                <a:latin typeface="Thaoma"/>
                <a:ea typeface="Arial" panose="020B0604020202020204" pitchFamily="34" charset="0"/>
              </a:rPr>
              <a:t>Backoff</a:t>
            </a:r>
            <a:r>
              <a:rPr lang="pt-BR" sz="2400" b="1" dirty="0">
                <a:effectLst/>
                <a:latin typeface="Thaoma"/>
                <a:ea typeface="Arial" panose="020B0604020202020204" pitchFamily="34" charset="0"/>
              </a:rPr>
              <a:t>):</a:t>
            </a:r>
            <a:r>
              <a:rPr lang="pt-BR" sz="2400" dirty="0">
                <a:effectLst/>
                <a:latin typeface="Thaoma"/>
                <a:ea typeface="Arial" panose="020B0604020202020204" pitchFamily="34" charset="0"/>
              </a:rPr>
              <a:t> </a:t>
            </a:r>
          </a:p>
          <a:p>
            <a:pPr algn="just">
              <a:lnSpc>
                <a:spcPct val="150000"/>
              </a:lnSpc>
            </a:pPr>
            <a:r>
              <a:rPr lang="pt-BR" sz="1800" dirty="0">
                <a:effectLst/>
                <a:latin typeface="Thaoma"/>
                <a:ea typeface="Arial" panose="020B0604020202020204" pitchFamily="34" charset="0"/>
              </a:rPr>
              <a:t>Melhora a estabilidade repetindo de forma transparente as operações que falham devido a erros transitórios (como limitação de serviço ou perda temporária de rede).</a:t>
            </a:r>
          </a:p>
          <a:p>
            <a:pPr algn="just">
              <a:lnSpc>
                <a:spcPct val="150000"/>
              </a:lnSpc>
            </a:pPr>
            <a:r>
              <a:rPr lang="pt-BR" sz="1800" dirty="0">
                <a:effectLst/>
                <a:latin typeface="Thaoma"/>
                <a:ea typeface="Arial" panose="020B0604020202020204" pitchFamily="34" charset="0"/>
              </a:rPr>
              <a:t>O </a:t>
            </a:r>
            <a:r>
              <a:rPr lang="pt-BR" sz="1800" b="1" dirty="0">
                <a:effectLst/>
                <a:latin typeface="Thaoma"/>
                <a:ea typeface="Arial" panose="020B0604020202020204" pitchFamily="34" charset="0"/>
              </a:rPr>
              <a:t>recuo exponencial</a:t>
            </a:r>
            <a:r>
              <a:rPr lang="pt-BR" sz="1800" dirty="0">
                <a:effectLst/>
                <a:latin typeface="Thaoma"/>
                <a:ea typeface="Arial" panose="020B0604020202020204" pitchFamily="34" charset="0"/>
              </a:rPr>
              <a:t> aumenta o tempo de espera entre as tentativas para evitar sobrecarregar o serviço receptor.</a:t>
            </a:r>
          </a:p>
          <a:p>
            <a:pPr algn="just">
              <a:lnSpc>
                <a:spcPct val="150000"/>
              </a:lnSpc>
            </a:pPr>
            <a:r>
              <a:rPr lang="pt-BR" sz="1800" b="1" dirty="0" err="1">
                <a:effectLst/>
                <a:latin typeface="Thaoma"/>
                <a:ea typeface="Arial" panose="020B0604020202020204" pitchFamily="34" charset="0"/>
              </a:rPr>
              <a:t>Idempotência</a:t>
            </a:r>
            <a:r>
              <a:rPr lang="pt-BR" sz="1800" b="1" dirty="0">
                <a:effectLst/>
                <a:latin typeface="Thaoma"/>
                <a:ea typeface="Arial" panose="020B0604020202020204" pitchFamily="34" charset="0"/>
              </a:rPr>
              <a:t>:</a:t>
            </a:r>
            <a:r>
              <a:rPr lang="pt-BR" sz="1800" dirty="0">
                <a:effectLst/>
                <a:latin typeface="Thaoma"/>
                <a:ea typeface="Arial" panose="020B0604020202020204" pitchFamily="34" charset="0"/>
              </a:rPr>
              <a:t> As operações devem ser </a:t>
            </a:r>
            <a:r>
              <a:rPr lang="pt-BR" sz="1800" b="1" dirty="0">
                <a:effectLst/>
                <a:latin typeface="Thaoma"/>
                <a:ea typeface="Arial" panose="020B0604020202020204" pitchFamily="34" charset="0"/>
              </a:rPr>
              <a:t>idempotentes</a:t>
            </a:r>
            <a:r>
              <a:rPr lang="pt-BR" sz="1800" dirty="0">
                <a:effectLst/>
                <a:latin typeface="Thaoma"/>
                <a:ea typeface="Arial" panose="020B0604020202020204" pitchFamily="34" charset="0"/>
              </a:rPr>
              <a:t> ao usar o padrão de repetição com recuo. Se não forem, atualizações parciais podem corromper o estado do sistema.</a:t>
            </a:r>
          </a:p>
        </p:txBody>
      </p:sp>
      <p:sp>
        <p:nvSpPr>
          <p:cNvPr id="6" name="Título 1">
            <a:extLst>
              <a:ext uri="{FF2B5EF4-FFF2-40B4-BE49-F238E27FC236}">
                <a16:creationId xmlns:a16="http://schemas.microsoft.com/office/drawing/2014/main" id="{F0DA336D-D784-432A-A224-C3429FAEE396}"/>
              </a:ext>
            </a:extLst>
          </p:cNvPr>
          <p:cNvSpPr>
            <a:spLocks noGrp="1"/>
          </p:cNvSpPr>
          <p:nvPr>
            <p:ph type="title"/>
          </p:nvPr>
        </p:nvSpPr>
        <p:spPr>
          <a:xfrm>
            <a:off x="152400" y="533400"/>
            <a:ext cx="8991600" cy="984885"/>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Resiliência </a:t>
            </a:r>
            <a:br>
              <a:rPr lang="pt-BR" sz="3200" b="1" dirty="0">
                <a:effectLst/>
                <a:latin typeface="Tahoma" panose="020B0604030504040204" pitchFamily="34" charset="0"/>
                <a:ea typeface="Tahoma" panose="020B0604030504040204" pitchFamily="34" charset="0"/>
                <a:cs typeface="Tahoma" panose="020B0604030504040204" pitchFamily="34" charset="0"/>
              </a:rPr>
            </a:br>
            <a:r>
              <a:rPr lang="pt-BR" sz="3200" b="1" dirty="0">
                <a:effectLst/>
                <a:latin typeface="Tahoma" panose="020B0604030504040204" pitchFamily="34" charset="0"/>
                <a:ea typeface="Tahoma" panose="020B0604030504040204" pitchFamily="34" charset="0"/>
                <a:cs typeface="Tahoma" panose="020B0604030504040204" pitchFamily="34" charset="0"/>
              </a:rPr>
              <a:t>(</a:t>
            </a:r>
            <a:r>
              <a:rPr lang="pt-BR" sz="3200" b="1" dirty="0" err="1">
                <a:effectLst/>
                <a:latin typeface="Tahoma" panose="020B0604030504040204" pitchFamily="34" charset="0"/>
                <a:ea typeface="Tahoma" panose="020B0604030504040204" pitchFamily="34" charset="0"/>
                <a:cs typeface="Tahoma" panose="020B0604030504040204" pitchFamily="34" charset="0"/>
              </a:rPr>
              <a:t>Fault</a:t>
            </a:r>
            <a:r>
              <a:rPr lang="pt-BR" sz="3200" b="1" dirty="0">
                <a:effectLst/>
                <a:latin typeface="Tahoma" panose="020B0604030504040204" pitchFamily="34" charset="0"/>
                <a:ea typeface="Tahoma" panose="020B0604030504040204" pitchFamily="34" charset="0"/>
                <a:cs typeface="Tahoma" panose="020B0604030504040204" pitchFamily="34" charset="0"/>
              </a:rPr>
              <a:t> </a:t>
            </a:r>
            <a:r>
              <a:rPr lang="pt-BR" sz="3200" b="1" dirty="0" err="1">
                <a:effectLst/>
                <a:latin typeface="Tahoma" panose="020B0604030504040204" pitchFamily="34" charset="0"/>
                <a:ea typeface="Tahoma" panose="020B0604030504040204" pitchFamily="34" charset="0"/>
                <a:cs typeface="Tahoma" panose="020B0604030504040204" pitchFamily="34" charset="0"/>
              </a:rPr>
              <a:t>Tolerance</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b="1" dirty="0"/>
          </a:p>
        </p:txBody>
      </p:sp>
    </p:spTree>
    <p:extLst>
      <p:ext uri="{BB962C8B-B14F-4D97-AF65-F5344CB8AC3E}">
        <p14:creationId xmlns:p14="http://schemas.microsoft.com/office/powerpoint/2010/main" val="2538089211"/>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381000"/>
            <a:ext cx="8077200" cy="1186019"/>
          </a:xfrm>
        </p:spPr>
        <p:txBody>
          <a:bodyPr/>
          <a:lstStyle/>
          <a:p>
            <a:pPr algn="ctr"/>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br>
              <a:rPr lang="pt-BR" sz="3200" b="1" dirty="0">
                <a:effectLst/>
                <a:latin typeface="Tahoma" panose="020B0604030504040204" pitchFamily="34" charset="0"/>
                <a:ea typeface="Tahoma" panose="020B0604030504040204" pitchFamily="34" charset="0"/>
                <a:cs typeface="Tahoma" panose="020B0604030504040204" pitchFamily="34" charset="0"/>
              </a:rPr>
            </a:b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23850" y="2181999"/>
            <a:ext cx="8115300" cy="41908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1800" b="1" dirty="0">
                <a:effectLst/>
                <a:latin typeface="Tahoma" panose="020B0604030504040204" pitchFamily="34" charset="0"/>
                <a:ea typeface="Tahoma" panose="020B0604030504040204" pitchFamily="34" charset="0"/>
                <a:cs typeface="Tahoma" panose="020B0604030504040204" pitchFamily="34" charset="0"/>
              </a:rPr>
              <a:t>Padrões Saga:</a:t>
            </a:r>
            <a:r>
              <a:rPr lang="pt-BR" sz="1800" dirty="0">
                <a:effectLst/>
                <a:latin typeface="Tahoma" panose="020B0604030504040204" pitchFamily="34" charset="0"/>
                <a:ea typeface="Tahoma" panose="020B0604030504040204" pitchFamily="34" charset="0"/>
                <a:cs typeface="Tahoma" panose="020B0604030504040204" pitchFamily="34" charset="0"/>
              </a:rPr>
              <a:t> Lidam com transações distribuídas por meio de uma sequência de transações locais. Se uma transação local falhar, a saga executa transações compensatórias para reverter as alterações.</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Coreografia Saga: Os </a:t>
            </a:r>
            <a:r>
              <a:rPr lang="pt-BR" sz="1800" dirty="0" err="1">
                <a:effectLst/>
                <a:latin typeface="Tahoma" panose="020B0604030504040204" pitchFamily="34" charset="0"/>
                <a:ea typeface="Tahoma" panose="020B0604030504040204" pitchFamily="34" charset="0"/>
                <a:cs typeface="Tahoma" panose="020B0604030504040204" pitchFamily="34" charset="0"/>
              </a:rPr>
              <a:t>microsserviços</a:t>
            </a:r>
            <a:r>
              <a:rPr lang="pt-BR" sz="1800" dirty="0">
                <a:effectLst/>
                <a:latin typeface="Tahoma" panose="020B0604030504040204" pitchFamily="34" charset="0"/>
                <a:ea typeface="Tahoma" panose="020B0604030504040204" pitchFamily="34" charset="0"/>
                <a:cs typeface="Tahoma" panose="020B0604030504040204" pitchFamily="34" charset="0"/>
              </a:rPr>
              <a:t> participantes se inscrevem nos eventos publicados uns pelos outros e agem com base nesses gatilhos, sendo adequado quando há poucos participantes e é necessário um acoplamento fraco.</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Orquestração Saga: Um orquestrador central (coordenador) gerencia e coordena o ciclo de vida completo da transação, enviando mensagens aos participantes.</a:t>
            </a:r>
          </a:p>
        </p:txBody>
      </p:sp>
    </p:spTree>
    <p:extLst>
      <p:ext uri="{BB962C8B-B14F-4D97-AF65-F5344CB8AC3E}">
        <p14:creationId xmlns:p14="http://schemas.microsoft.com/office/powerpoint/2010/main" val="1690989677"/>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354217"/>
          </a:xfrm>
        </p:spPr>
        <p:txBody>
          <a:bodyPr/>
          <a:lstStyle/>
          <a:p>
            <a:pPr algn="ct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228600" y="2112749"/>
            <a:ext cx="8686800" cy="5298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Caixa de Saída Transacional </a:t>
            </a:r>
            <a:r>
              <a:rPr lang="pt-BR" sz="1800" dirty="0">
                <a:effectLst/>
                <a:latin typeface="Tahoma" panose="020B0604030504040204" pitchFamily="34" charset="0"/>
                <a:ea typeface="Tahoma" panose="020B0604030504040204" pitchFamily="34" charset="0"/>
                <a:cs typeface="Tahoma" panose="020B0604030504040204" pitchFamily="34" charset="0"/>
              </a:rPr>
              <a:t>(</a:t>
            </a:r>
            <a:r>
              <a:rPr lang="pt-BR" sz="1800" dirty="0" err="1">
                <a:effectLst/>
                <a:latin typeface="Tahoma" panose="020B0604030504040204" pitchFamily="34" charset="0"/>
                <a:ea typeface="Tahoma" panose="020B0604030504040204" pitchFamily="34" charset="0"/>
                <a:cs typeface="Tahoma" panose="020B0604030504040204" pitchFamily="34" charset="0"/>
              </a:rPr>
              <a:t>Transactional</a:t>
            </a:r>
            <a:r>
              <a:rPr lang="pt-BR" sz="1800" dirty="0">
                <a:effectLst/>
                <a:latin typeface="Tahoma" panose="020B0604030504040204" pitchFamily="34" charset="0"/>
                <a:ea typeface="Tahoma" panose="020B0604030504040204" pitchFamily="34" charset="0"/>
                <a:cs typeface="Tahoma" panose="020B0604030504040204" pitchFamily="34" charset="0"/>
              </a:rPr>
              <a:t> </a:t>
            </a:r>
            <a:r>
              <a:rPr lang="pt-BR" sz="1800" dirty="0" err="1">
                <a:effectLst/>
                <a:latin typeface="Tahoma" panose="020B0604030504040204" pitchFamily="34" charset="0"/>
                <a:ea typeface="Tahoma" panose="020B0604030504040204" pitchFamily="34" charset="0"/>
                <a:cs typeface="Tahoma" panose="020B0604030504040204" pitchFamily="34" charset="0"/>
              </a:rPr>
              <a:t>Outbox</a:t>
            </a:r>
            <a:r>
              <a:rPr lang="pt-BR" sz="1800" dirty="0">
                <a:effectLst/>
                <a:latin typeface="Tahoma" panose="020B0604030504040204" pitchFamily="34" charset="0"/>
                <a:ea typeface="Tahoma" panose="020B0604030504040204" pitchFamily="34" charset="0"/>
                <a:cs typeface="Tahoma" panose="020B0604030504040204" pitchFamily="34" charset="0"/>
              </a:rPr>
              <a:t>): </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Resolve o problema de gravação dupla </a:t>
            </a:r>
            <a:r>
              <a:rPr lang="pt-BR" sz="1600" dirty="0">
                <a:effectLst/>
                <a:latin typeface="Tahoma" panose="020B0604030504040204" pitchFamily="34" charset="0"/>
                <a:ea typeface="Tahoma" panose="020B0604030504040204" pitchFamily="34" charset="0"/>
                <a:cs typeface="Tahoma" panose="020B0604030504040204" pitchFamily="34" charset="0"/>
              </a:rPr>
              <a:t>(atualização do banco de dados e notificação de evento) </a:t>
            </a:r>
            <a:r>
              <a:rPr lang="pt-BR" sz="1800" dirty="0">
                <a:effectLst/>
                <a:latin typeface="Tahoma" panose="020B0604030504040204" pitchFamily="34" charset="0"/>
                <a:ea typeface="Tahoma" panose="020B0604030504040204" pitchFamily="34" charset="0"/>
                <a:cs typeface="Tahoma" panose="020B0604030504040204" pitchFamily="34" charset="0"/>
              </a:rPr>
              <a:t>que pode levar a inconsistências. Garante que a atualização do banco de dados e o evento sejam executados atomicamente dentro de uma única transação. Pode ser implementado usando uma tabela de caixa de saída ou por meio da Captura de Dados de Alteração (CDC).</a:t>
            </a: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Publicar/Assinar (Pub/Sub):</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Um padrão de mensagens que separa o remetente do destinatário. Os publicadores (</a:t>
            </a:r>
            <a:r>
              <a:rPr lang="pt-BR" sz="1800" dirty="0" err="1">
                <a:effectLst/>
                <a:latin typeface="Tahoma" panose="020B0604030504040204" pitchFamily="34" charset="0"/>
                <a:ea typeface="Tahoma" panose="020B0604030504040204" pitchFamily="34" charset="0"/>
                <a:cs typeface="Tahoma" panose="020B0604030504040204" pitchFamily="34" charset="0"/>
              </a:rPr>
              <a:t>microsserviços</a:t>
            </a:r>
            <a:r>
              <a:rPr lang="pt-BR" sz="1800" dirty="0">
                <a:effectLst/>
                <a:latin typeface="Tahoma" panose="020B0604030504040204" pitchFamily="34" charset="0"/>
                <a:ea typeface="Tahoma" panose="020B0604030504040204" pitchFamily="34" charset="0"/>
                <a:cs typeface="Tahoma" panose="020B0604030504040204" pitchFamily="34" charset="0"/>
              </a:rPr>
              <a:t>) enviam mensagens por meio de um agente de mensagens (</a:t>
            </a:r>
            <a:r>
              <a:rPr lang="pt-BR" sz="1800" dirty="0" err="1">
                <a:effectLst/>
                <a:latin typeface="Tahoma" panose="020B0604030504040204" pitchFamily="34" charset="0"/>
                <a:ea typeface="Tahoma" panose="020B0604030504040204" pitchFamily="34" charset="0"/>
                <a:cs typeface="Tahoma" panose="020B0604030504040204" pitchFamily="34" charset="0"/>
              </a:rPr>
              <a:t>message</a:t>
            </a:r>
            <a:r>
              <a:rPr lang="pt-BR" sz="1800" dirty="0">
                <a:effectLst/>
                <a:latin typeface="Tahoma" panose="020B0604030504040204" pitchFamily="34" charset="0"/>
                <a:ea typeface="Tahoma" panose="020B0604030504040204" pitchFamily="34" charset="0"/>
                <a:cs typeface="Tahoma" panose="020B0604030504040204" pitchFamily="34" charset="0"/>
              </a:rPr>
              <a:t> broker) para que os assinantes interessados possam consumi-las de forma assíncrona. Isso aumenta a escalabilidade e a capacidade de resposta.</a:t>
            </a:r>
          </a:p>
          <a:p>
            <a:pPr algn="just">
              <a:lnSpc>
                <a:spcPct val="150000"/>
              </a:lnSpc>
            </a:pPr>
            <a:endParaRPr lang="pt-BR" sz="1800" b="1"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CaixaDeTexto 4">
            <a:extLst>
              <a:ext uri="{FF2B5EF4-FFF2-40B4-BE49-F238E27FC236}">
                <a16:creationId xmlns:a16="http://schemas.microsoft.com/office/drawing/2014/main" id="{6EC3B0B1-6003-4879-93F5-DCEFC6D3D307}"/>
              </a:ext>
            </a:extLst>
          </p:cNvPr>
          <p:cNvSpPr txBox="1"/>
          <p:nvPr/>
        </p:nvSpPr>
        <p:spPr>
          <a:xfrm>
            <a:off x="1774371" y="235945"/>
            <a:ext cx="6324600" cy="1077218"/>
          </a:xfrm>
          <a:prstGeom prst="rect">
            <a:avLst/>
          </a:prstGeom>
          <a:noFill/>
        </p:spPr>
        <p:txBody>
          <a:bodyPr wrap="square">
            <a:spAutoFit/>
          </a:bodyPr>
          <a:lstStyle/>
          <a:p>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dirty="0"/>
          </a:p>
        </p:txBody>
      </p:sp>
    </p:spTree>
    <p:extLst>
      <p:ext uri="{BB962C8B-B14F-4D97-AF65-F5344CB8AC3E}">
        <p14:creationId xmlns:p14="http://schemas.microsoft.com/office/powerpoint/2010/main" val="1847792255"/>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66800" y="337981"/>
            <a:ext cx="6629400" cy="1354217"/>
          </a:xfrm>
        </p:spPr>
        <p:txBody>
          <a:bodyPr/>
          <a:lstStyle/>
          <a:p>
            <a:pPr algn="ctr"/>
            <a:br>
              <a:rPr lang="pt-BR" sz="4400" b="1" dirty="0">
                <a:effectLst/>
                <a:latin typeface="Thaoma"/>
                <a:ea typeface="Arial" panose="020B0604020202020204" pitchFamily="34" charset="0"/>
              </a:rPr>
            </a:br>
            <a:endParaRPr lang="pt-BR" b="1" dirty="0"/>
          </a:p>
        </p:txBody>
      </p:sp>
      <p:sp>
        <p:nvSpPr>
          <p:cNvPr id="4" name="Rectangle 1"/>
          <p:cNvSpPr>
            <a:spLocks noGrp="1" noChangeArrowheads="1"/>
          </p:cNvSpPr>
          <p:nvPr>
            <p:ph type="body" idx="1"/>
          </p:nvPr>
        </p:nvSpPr>
        <p:spPr bwMode="auto">
          <a:xfrm>
            <a:off x="38100" y="1821867"/>
            <a:ext cx="8686800" cy="5298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Dispersão e Coleta (</a:t>
            </a:r>
            <a:r>
              <a:rPr lang="pt-BR" sz="2400" b="1" dirty="0" err="1">
                <a:effectLst/>
                <a:latin typeface="Tahoma" panose="020B0604030504040204" pitchFamily="34" charset="0"/>
                <a:ea typeface="Tahoma" panose="020B0604030504040204" pitchFamily="34" charset="0"/>
                <a:cs typeface="Tahoma" panose="020B0604030504040204" pitchFamily="34" charset="0"/>
              </a:rPr>
              <a:t>Scatter-Gather</a:t>
            </a:r>
            <a:r>
              <a:rPr lang="pt-BR" sz="2400" b="1" dirty="0">
                <a:effectLst/>
                <a:latin typeface="Tahoma" panose="020B0604030504040204" pitchFamily="34" charset="0"/>
                <a:ea typeface="Tahoma" panose="020B0604030504040204" pitchFamily="34" charset="0"/>
                <a:cs typeface="Tahoma" panose="020B0604030504040204" pitchFamily="34" charset="0"/>
              </a:rPr>
              <a:t>):</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Transmite solicitações para vários destinatários em paralelo (dispersão) e, em seguida, usa um agregador para combinar ou filtrar as respostas em uma única mensagem (coleta). É útil para otimizar o desempenho e alcançar paralelização, como na consulta de múltiplas fontes de inventário.</a:t>
            </a:r>
          </a:p>
          <a:p>
            <a:pPr algn="just">
              <a:lnSpc>
                <a:spcPct val="150000"/>
              </a:lnSpc>
            </a:pPr>
            <a:endParaRPr lang="pt-BR" sz="1800" dirty="0">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r>
              <a:rPr lang="pt-BR" sz="2400" b="1" dirty="0">
                <a:effectLst/>
                <a:latin typeface="Tahoma" panose="020B0604030504040204" pitchFamily="34" charset="0"/>
                <a:ea typeface="Tahoma" panose="020B0604030504040204" pitchFamily="34" charset="0"/>
                <a:cs typeface="Tahoma" panose="020B0604030504040204" pitchFamily="34" charset="0"/>
              </a:rPr>
              <a:t>Padrão de Fornecimento de Eventos (</a:t>
            </a:r>
            <a:r>
              <a:rPr lang="pt-BR" sz="2400" b="1" dirty="0" err="1">
                <a:effectLst/>
                <a:latin typeface="Tahoma" panose="020B0604030504040204" pitchFamily="34" charset="0"/>
                <a:ea typeface="Tahoma" panose="020B0604030504040204" pitchFamily="34" charset="0"/>
                <a:cs typeface="Tahoma" panose="020B0604030504040204" pitchFamily="34" charset="0"/>
              </a:rPr>
              <a:t>Event</a:t>
            </a:r>
            <a:r>
              <a:rPr lang="pt-BR" sz="2400" b="1" dirty="0">
                <a:effectLst/>
                <a:latin typeface="Tahoma" panose="020B0604030504040204" pitchFamily="34" charset="0"/>
                <a:ea typeface="Tahoma" panose="020B0604030504040204" pitchFamily="34" charset="0"/>
                <a:cs typeface="Tahoma" panose="020B0604030504040204" pitchFamily="34" charset="0"/>
              </a:rPr>
              <a:t> </a:t>
            </a:r>
            <a:r>
              <a:rPr lang="pt-BR" sz="2400" b="1" dirty="0" err="1">
                <a:effectLst/>
                <a:latin typeface="Tahoma" panose="020B0604030504040204" pitchFamily="34" charset="0"/>
                <a:ea typeface="Tahoma" panose="020B0604030504040204" pitchFamily="34" charset="0"/>
                <a:cs typeface="Tahoma" panose="020B0604030504040204" pitchFamily="34" charset="0"/>
              </a:rPr>
              <a:t>Sourcing</a:t>
            </a:r>
            <a:r>
              <a:rPr lang="pt-BR" sz="2400" b="1" dirty="0">
                <a:effectLst/>
                <a:latin typeface="Tahoma" panose="020B0604030504040204" pitchFamily="34" charset="0"/>
                <a:ea typeface="Tahoma" panose="020B0604030504040204" pitchFamily="34" charset="0"/>
                <a:cs typeface="Tahoma" panose="020B0604030504040204" pitchFamily="34" charset="0"/>
              </a:rPr>
              <a:t>):</a:t>
            </a:r>
            <a:r>
              <a:rPr lang="pt-BR" sz="2400" dirty="0">
                <a:effectLst/>
                <a:latin typeface="Tahoma" panose="020B0604030504040204" pitchFamily="34" charset="0"/>
                <a:ea typeface="Tahoma" panose="020B0604030504040204" pitchFamily="34" charset="0"/>
                <a:cs typeface="Tahoma" panose="020B0604030504040204" pitchFamily="34" charset="0"/>
              </a:rPr>
              <a:t> </a:t>
            </a:r>
          </a:p>
          <a:p>
            <a:pPr algn="just">
              <a:lnSpc>
                <a:spcPct val="150000"/>
              </a:lnSpc>
            </a:pPr>
            <a:r>
              <a:rPr lang="pt-BR" sz="1800" dirty="0">
                <a:effectLst/>
                <a:latin typeface="Tahoma" panose="020B0604030504040204" pitchFamily="34" charset="0"/>
                <a:ea typeface="Tahoma" panose="020B0604030504040204" pitchFamily="34" charset="0"/>
                <a:cs typeface="Tahoma" panose="020B0604030504040204" pitchFamily="34" charset="0"/>
              </a:rPr>
              <a:t>Armazena todos os eventos que resultam em uma mudança de estado em um repositório imutável e cronologicamente ordenado. Isso fornece um histórico completo das mudanças e permite a reconstrução pontual do estado.</a:t>
            </a:r>
          </a:p>
          <a:p>
            <a:pPr algn="just">
              <a:lnSpc>
                <a:spcPct val="150000"/>
              </a:lnSpc>
            </a:pPr>
            <a:endParaRPr lang="pt-BR" sz="1800" dirty="0">
              <a:effectLst/>
              <a:latin typeface="Tahoma" panose="020B0604030504040204" pitchFamily="34" charset="0"/>
              <a:ea typeface="Tahoma" panose="020B0604030504040204" pitchFamily="34" charset="0"/>
              <a:cs typeface="Tahoma" panose="020B0604030504040204" pitchFamily="34" charset="0"/>
            </a:endParaRPr>
          </a:p>
          <a:p>
            <a:pPr algn="just">
              <a:lnSpc>
                <a:spcPct val="150000"/>
              </a:lnSpc>
            </a:pPr>
            <a:endParaRPr lang="pt-BR" sz="1800" b="1" dirty="0">
              <a:effectLst/>
              <a:latin typeface="Tahoma" panose="020B0604030504040204" pitchFamily="34" charset="0"/>
              <a:ea typeface="Tahoma" panose="020B0604030504040204" pitchFamily="34" charset="0"/>
              <a:cs typeface="Tahoma" panose="020B0604030504040204" pitchFamily="34" charset="0"/>
            </a:endParaRPr>
          </a:p>
        </p:txBody>
      </p:sp>
      <p:sp>
        <p:nvSpPr>
          <p:cNvPr id="5" name="CaixaDeTexto 4">
            <a:extLst>
              <a:ext uri="{FF2B5EF4-FFF2-40B4-BE49-F238E27FC236}">
                <a16:creationId xmlns:a16="http://schemas.microsoft.com/office/drawing/2014/main" id="{6EC3B0B1-6003-4879-93F5-DCEFC6D3D307}"/>
              </a:ext>
            </a:extLst>
          </p:cNvPr>
          <p:cNvSpPr txBox="1"/>
          <p:nvPr/>
        </p:nvSpPr>
        <p:spPr>
          <a:xfrm>
            <a:off x="1774371" y="235945"/>
            <a:ext cx="6324600" cy="1077218"/>
          </a:xfrm>
          <a:prstGeom prst="rect">
            <a:avLst/>
          </a:prstGeom>
          <a:noFill/>
        </p:spPr>
        <p:txBody>
          <a:bodyPr wrap="square">
            <a:spAutoFit/>
          </a:bodyPr>
          <a:lstStyle/>
          <a:p>
            <a:r>
              <a:rPr lang="pt-BR" sz="3200" b="1" dirty="0">
                <a:effectLst/>
                <a:latin typeface="Tahoma" panose="020B0604030504040204" pitchFamily="34" charset="0"/>
                <a:ea typeface="Tahoma" panose="020B0604030504040204" pitchFamily="34" charset="0"/>
                <a:cs typeface="Tahoma" panose="020B0604030504040204" pitchFamily="34" charset="0"/>
              </a:rPr>
              <a:t>Padrões de Comunicação e Consistência (</a:t>
            </a:r>
            <a:r>
              <a:rPr lang="pt-BR" sz="3200" b="1" dirty="0" err="1">
                <a:effectLst/>
                <a:latin typeface="Tahoma" panose="020B0604030504040204" pitchFamily="34" charset="0"/>
                <a:ea typeface="Tahoma" panose="020B0604030504040204" pitchFamily="34" charset="0"/>
                <a:cs typeface="Tahoma" panose="020B0604030504040204" pitchFamily="34" charset="0"/>
              </a:rPr>
              <a:t>Coordination</a:t>
            </a:r>
            <a:r>
              <a:rPr lang="pt-BR" sz="3200" b="1" dirty="0">
                <a:effectLst/>
                <a:latin typeface="Tahoma" panose="020B0604030504040204" pitchFamily="34" charset="0"/>
                <a:ea typeface="Tahoma" panose="020B0604030504040204" pitchFamily="34" charset="0"/>
                <a:cs typeface="Tahoma" panose="020B0604030504040204" pitchFamily="34" charset="0"/>
              </a:rPr>
              <a:t>)</a:t>
            </a:r>
            <a:endParaRPr lang="pt-BR" sz="3200" dirty="0"/>
          </a:p>
        </p:txBody>
      </p:sp>
    </p:spTree>
    <p:extLst>
      <p:ext uri="{BB962C8B-B14F-4D97-AF65-F5344CB8AC3E}">
        <p14:creationId xmlns:p14="http://schemas.microsoft.com/office/powerpoint/2010/main" val="3007287031"/>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09800" y="457200"/>
            <a:ext cx="4114800" cy="762000"/>
          </a:xfrm>
        </p:spPr>
        <p:txBody>
          <a:bodyPr/>
          <a:lstStyle/>
          <a:p>
            <a:pPr algn="ctr"/>
            <a:r>
              <a:rPr lang="pt-PT" sz="3200" b="1" dirty="0"/>
              <a:t>REFERÊNCIAS</a:t>
            </a:r>
            <a:br>
              <a:rPr lang="pt-PT" sz="3200" b="1" dirty="0"/>
            </a:br>
            <a:r>
              <a:rPr lang="pt-PT" sz="2800" b="1" dirty="0"/>
              <a:t> </a:t>
            </a:r>
            <a:br>
              <a:rPr lang="pt-PT" sz="2800" b="1" dirty="0"/>
            </a:br>
            <a:r>
              <a:rPr lang="pt-PT" sz="2800" b="1" dirty="0"/>
              <a:t> </a:t>
            </a:r>
            <a:br>
              <a:rPr lang="pt-PT" sz="3200" b="1" dirty="0"/>
            </a:br>
            <a:br>
              <a:rPr lang="pt-BR" sz="3200" b="1" dirty="0"/>
            </a:br>
            <a:endParaRPr lang="pt-BR" b="1" dirty="0"/>
          </a:p>
        </p:txBody>
      </p:sp>
      <p:sp>
        <p:nvSpPr>
          <p:cNvPr id="4" name="Rectangle 1"/>
          <p:cNvSpPr>
            <a:spLocks noGrp="1" noChangeArrowheads="1"/>
          </p:cNvSpPr>
          <p:nvPr>
            <p:ph type="body" idx="1"/>
          </p:nvPr>
        </p:nvSpPr>
        <p:spPr bwMode="auto">
          <a:xfrm>
            <a:off x="304800" y="3997186"/>
            <a:ext cx="86868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rtl="0" eaLnBrk="0" fontAlgn="base" hangingPunct="0">
              <a:spcBef>
                <a:spcPct val="0"/>
              </a:spcBef>
              <a:spcAft>
                <a:spcPct val="0"/>
              </a:spcAft>
            </a:pPr>
            <a:endParaRPr lang="pt-BR" sz="1800" dirty="0">
              <a:latin typeface="Tahoma" panose="020B0604030504040204" pitchFamily="34" charset="0"/>
              <a:ea typeface="Tahoma" panose="020B0604030504040204" pitchFamily="34" charset="0"/>
              <a:cs typeface="Tahoma" panose="020B0604030504040204" pitchFamily="34" charset="0"/>
            </a:endParaRPr>
          </a:p>
          <a:p>
            <a:pPr lvl="0" algn="l" rtl="0" eaLnBrk="0" fontAlgn="base" hangingPunct="0">
              <a:spcBef>
                <a:spcPct val="0"/>
              </a:spcBef>
              <a:spcAft>
                <a:spcPct val="0"/>
              </a:spcAft>
            </a:pPr>
            <a:endParaRPr lang="pt-BR" sz="1800" b="1" dirty="0">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1181574874"/>
      </p:ext>
    </p:extLst>
  </p:cSld>
  <p:clrMapOvr>
    <a:masterClrMapping/>
  </p:clrMapOvr>
  <mc:AlternateContent xmlns:mc="http://schemas.openxmlformats.org/markup-compatibility/2006" xmlns:p14="http://schemas.microsoft.com/office/powerpoint/2010/main">
    <mc:Choice Requires="p14">
      <p:transition spd="slow" p14:dur="2000" advTm="13273"/>
    </mc:Choice>
    <mc:Fallback xmlns="">
      <p:transition spd="slow" advTm="13273"/>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2926</TotalTime>
  <Words>998</Words>
  <Application>Microsoft Office PowerPoint</Application>
  <PresentationFormat>Apresentação na tela (4:3)</PresentationFormat>
  <Paragraphs>95</Paragraphs>
  <Slides>14</Slides>
  <Notes>13</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14</vt:i4>
      </vt:variant>
    </vt:vector>
  </HeadingPairs>
  <TitlesOfParts>
    <vt:vector size="22" baseType="lpstr">
      <vt:lpstr>Arial</vt:lpstr>
      <vt:lpstr>Arial MT</vt:lpstr>
      <vt:lpstr>Calibri</vt:lpstr>
      <vt:lpstr>Tahoma</vt:lpstr>
      <vt:lpstr>Thaoma</vt:lpstr>
      <vt:lpstr>Times New Roman</vt:lpstr>
      <vt:lpstr>Wingdings</vt:lpstr>
      <vt:lpstr>Office Theme</vt:lpstr>
      <vt:lpstr>ADMINISTRAÇÃO  DE SISTEMAS ABERTOS </vt:lpstr>
      <vt:lpstr>TEMA                MICROSSERVIÇOS </vt:lpstr>
      <vt:lpstr>ROTEIRO </vt:lpstr>
      <vt:lpstr>INTRODUÇÃO </vt:lpstr>
      <vt:lpstr>CONCEITOS </vt:lpstr>
      <vt:lpstr>CONCEITOS </vt:lpstr>
      <vt:lpstr>VANTAGENS / DESVANTAGENS</vt:lpstr>
      <vt:lpstr>PADRÕES DE RESILIÊNCIA E  TOLERÂNCIA A FALHAS </vt:lpstr>
      <vt:lpstr>Padrões de Resiliência  (Fault Tolerance) </vt:lpstr>
      <vt:lpstr>Padrões de Resiliência  (Fault Tolerance)</vt:lpstr>
      <vt:lpstr>Padrões de Comunicação e Consistência (Coordination)  </vt:lpstr>
      <vt:lpstr> </vt:lpstr>
      <vt:lpstr> </vt:lpstr>
      <vt:lpstr>REFERÊNCIAS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VLAN</dc:title>
  <dc:creator>usuario</dc:creator>
  <cp:lastModifiedBy>Natanael Gomes</cp:lastModifiedBy>
  <cp:revision>230</cp:revision>
  <dcterms:created xsi:type="dcterms:W3CDTF">2024-03-04T22:26:28Z</dcterms:created>
  <dcterms:modified xsi:type="dcterms:W3CDTF">2025-10-22T14:15:52Z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2022-08-02T00:00:00Z</vt:filetime>
  </property>
  <property fmtid="{D5CDD505-2E9C-101B-9397-08002B2CF9AE}" pid="3" name="Creator">
    <vt:lpwstr>Microsoft® PowerPoint® 2016</vt:lpwstr>
  </property>
  <property fmtid="{D5CDD505-2E9C-101B-9397-08002B2CF9AE}" pid="4" name="LastSaved">
    <vt:filetime>2024-03-04T00:00:00Z</vt:filetime>
  </property>
</Properties>
</file>